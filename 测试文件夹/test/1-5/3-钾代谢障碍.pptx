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8" r:id="rId1"/>
  </p:sldMasterIdLst>
  <p:notesMasterIdLst>
    <p:notesMasterId r:id="rId36"/>
  </p:notesMasterIdLst>
  <p:handoutMasterIdLst>
    <p:handoutMasterId r:id="rId37"/>
  </p:handoutMasterIdLst>
  <p:sldIdLst>
    <p:sldId id="272" r:id="rId2"/>
    <p:sldId id="273" r:id="rId3"/>
    <p:sldId id="307" r:id="rId4"/>
    <p:sldId id="308" r:id="rId5"/>
    <p:sldId id="310" r:id="rId6"/>
    <p:sldId id="311" r:id="rId7"/>
    <p:sldId id="309" r:id="rId8"/>
    <p:sldId id="279" r:id="rId9"/>
    <p:sldId id="280" r:id="rId10"/>
    <p:sldId id="281" r:id="rId11"/>
    <p:sldId id="306" r:id="rId12"/>
    <p:sldId id="312" r:id="rId13"/>
    <p:sldId id="313" r:id="rId14"/>
    <p:sldId id="314" r:id="rId15"/>
    <p:sldId id="282" r:id="rId16"/>
    <p:sldId id="283" r:id="rId17"/>
    <p:sldId id="284" r:id="rId18"/>
    <p:sldId id="285" r:id="rId19"/>
    <p:sldId id="286" r:id="rId20"/>
    <p:sldId id="318" r:id="rId21"/>
    <p:sldId id="316" r:id="rId22"/>
    <p:sldId id="290" r:id="rId23"/>
    <p:sldId id="291" r:id="rId24"/>
    <p:sldId id="292" r:id="rId25"/>
    <p:sldId id="319" r:id="rId26"/>
    <p:sldId id="320" r:id="rId27"/>
    <p:sldId id="326" r:id="rId28"/>
    <p:sldId id="327" r:id="rId29"/>
    <p:sldId id="322" r:id="rId30"/>
    <p:sldId id="324" r:id="rId31"/>
    <p:sldId id="323" r:id="rId32"/>
    <p:sldId id="305" r:id="rId33"/>
    <p:sldId id="328" r:id="rId34"/>
    <p:sldId id="329" r:id="rId35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  <a:srgbClr val="FFCCCC"/>
    <a:srgbClr val="FF6600"/>
    <a:srgbClr val="FF3300"/>
    <a:srgbClr val="FFCC00"/>
    <a:srgbClr val="99FF33"/>
    <a:srgbClr val="CC00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78731" autoAdjust="0"/>
  </p:normalViewPr>
  <p:slideViewPr>
    <p:cSldViewPr>
      <p:cViewPr varScale="1">
        <p:scale>
          <a:sx n="89" d="100"/>
          <a:sy n="89" d="100"/>
        </p:scale>
        <p:origin x="-22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3EB89-0377-4319-9410-C60C1874D27E}" type="datetimeFigureOut">
              <a:rPr lang="zh-CN" altLang="en-US" smtClean="0"/>
              <a:t>2021/9/13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4C141-C96C-4FC1-B9C6-FA0FD77A74B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CD119007-3924-454E-8CB5-C4DE4BECA569}" type="datetimeFigureOut">
              <a:rPr lang="zh-CN" altLang="en-US" smtClean="0"/>
              <a:pPr/>
              <a:t>2021/9/13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F496B3EF-A7B6-472B-BEDA-234A241F21B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96B3EF-A7B6-472B-BEDA-234A241F21BC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96B3EF-A7B6-472B-BEDA-234A241F21BC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ROMK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，即 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renal outer-</a:t>
            </a:r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medullary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K+ channel</a:t>
            </a:r>
          </a:p>
          <a:p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ENaC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，即 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epithelial sodium channel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96B3EF-A7B6-472B-BEDA-234A241F21BC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96B3EF-A7B6-472B-BEDA-234A241F21BC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96B3EF-A7B6-472B-BEDA-234A241F21BC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低钾原因：摄入减少，呕吐丢失，肾脏丢失（</a:t>
            </a:r>
            <a:r>
              <a:rPr lang="zh-CN" altLang="en-US" u="sng" dirty="0" smtClean="0"/>
              <a:t>低镁</a:t>
            </a:r>
            <a:r>
              <a:rPr lang="zh-CN" altLang="en-US" dirty="0" smtClean="0"/>
              <a:t>，渗透性利尿），转移到细胞内（胰岛素）</a:t>
            </a:r>
            <a:endParaRPr lang="en-US" altLang="zh-CN" dirty="0" smtClean="0"/>
          </a:p>
          <a:p>
            <a:r>
              <a:rPr lang="zh-CN" altLang="en-US" dirty="0" smtClean="0"/>
              <a:t>低镁原因：摄入减少，呕吐丢失，肾脏丢失（酸中毒抑制肾小管吸收，渗透性利尿，庆大霉素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，转移到细胞内（胰岛素）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96B3EF-A7B6-472B-BEDA-234A241F21BC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96B3EF-A7B6-472B-BEDA-234A241F21BC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96B3EF-A7B6-472B-BEDA-234A241F21BC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自律细胞</a:t>
            </a:r>
            <a:r>
              <a:rPr lang="en-US" altLang="zh-CN" dirty="0" smtClean="0"/>
              <a:t>4</a:t>
            </a:r>
            <a:r>
              <a:rPr lang="zh-CN" altLang="en-US" dirty="0" smtClean="0"/>
              <a:t>期自动去极化：</a:t>
            </a:r>
            <a:r>
              <a:rPr lang="en-US" altLang="zh-CN" dirty="0" smtClean="0"/>
              <a:t>If:</a:t>
            </a:r>
            <a:r>
              <a:rPr lang="zh-CN" altLang="en-US" dirty="0" smtClean="0"/>
              <a:t>内向离子电流</a:t>
            </a:r>
            <a:r>
              <a:rPr lang="en-US" altLang="zh-CN" dirty="0" smtClean="0"/>
              <a:t>,</a:t>
            </a:r>
            <a:r>
              <a:rPr lang="zh-CN" altLang="en-US" dirty="0" smtClean="0"/>
              <a:t>随时间进行性增强，最大激活电位为</a:t>
            </a:r>
            <a:r>
              <a:rPr lang="en-US" altLang="zh-CN" dirty="0" smtClean="0"/>
              <a:t>-100mv, </a:t>
            </a:r>
            <a:r>
              <a:rPr lang="zh-CN" altLang="en-US" dirty="0" smtClean="0"/>
              <a:t>但是正常情况下，</a:t>
            </a:r>
            <a:r>
              <a:rPr lang="en-US" altLang="zh-CN" dirty="0" smtClean="0"/>
              <a:t>P</a:t>
            </a:r>
            <a:r>
              <a:rPr lang="zh-CN" altLang="en-US" dirty="0" smtClean="0"/>
              <a:t>细胞最多复极到</a:t>
            </a:r>
            <a:r>
              <a:rPr lang="en-US" altLang="zh-CN" dirty="0" smtClean="0"/>
              <a:t>-70mv,</a:t>
            </a:r>
            <a:r>
              <a:rPr lang="zh-CN" altLang="en-US" dirty="0" smtClean="0"/>
              <a:t>因此该通道形成的电流较小；</a:t>
            </a:r>
            <a:r>
              <a:rPr lang="en-US" altLang="zh-CN" dirty="0" smtClean="0"/>
              <a:t>4</a:t>
            </a:r>
            <a:r>
              <a:rPr lang="zh-CN" altLang="en-US" dirty="0" smtClean="0"/>
              <a:t>期自动复极主要靠外向钾电流的衰减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 I</a:t>
            </a:r>
            <a:r>
              <a:rPr lang="en-US" altLang="zh-CN" sz="1050" dirty="0" smtClean="0"/>
              <a:t>ca-T</a:t>
            </a:r>
            <a:r>
              <a:rPr lang="zh-CN" altLang="en-US" sz="1050" dirty="0" smtClean="0"/>
              <a:t>：主要在自动去极化后期发挥作用</a:t>
            </a:r>
            <a:endParaRPr lang="zh-CN" altLang="en-US" sz="105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96B3EF-A7B6-472B-BEDA-234A241F21BC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发生低血钾时，钠钾泵的活动减弱</a:t>
            </a:r>
            <a:r>
              <a:rPr lang="zh-CN" altLang="en-US" u="sng" dirty="0" smtClean="0"/>
              <a:t>，细胞外钠离子减少</a:t>
            </a:r>
            <a:r>
              <a:rPr lang="zh-CN" altLang="en-US" dirty="0" smtClean="0"/>
              <a:t>。其对钙离子的影响有二</a:t>
            </a:r>
            <a:r>
              <a:rPr lang="en-US" altLang="zh-CN" dirty="0" smtClean="0"/>
              <a:t>: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r>
              <a:rPr lang="en-US" altLang="zh-CN" dirty="0" smtClean="0"/>
              <a:t>L</a:t>
            </a:r>
            <a:r>
              <a:rPr lang="zh-CN" altLang="en-US" dirty="0" smtClean="0"/>
              <a:t>型钙离子通道主要对钙离子通透，也对钠离子通透，钠离子减少就减弱了其对钙离子的内流竞争作用，</a:t>
            </a:r>
            <a:r>
              <a:rPr lang="zh-CN" altLang="en-US" u="sng" dirty="0" smtClean="0"/>
              <a:t>钙离子内流增加</a:t>
            </a:r>
            <a:r>
              <a:rPr lang="zh-CN" altLang="en-US" dirty="0" smtClean="0"/>
              <a:t>；（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）钠钙泵的活动减弱，使得钙离子从细胞内到细胞外转运减少。</a:t>
            </a:r>
            <a:r>
              <a:rPr lang="zh-CN" altLang="en-US" u="sng" dirty="0" smtClean="0"/>
              <a:t>当细胞内钙离子增加时，可激活钙依赖性钾流（</a:t>
            </a:r>
            <a:r>
              <a:rPr lang="en-US" altLang="zh-CN" u="sng" dirty="0" smtClean="0"/>
              <a:t>Ica-k</a:t>
            </a:r>
            <a:r>
              <a:rPr lang="zh-CN" altLang="en-US" u="sng" dirty="0" smtClean="0"/>
              <a:t>）钾离子外流加速，平台期（</a:t>
            </a:r>
            <a:r>
              <a:rPr lang="en-US" altLang="zh-CN" u="sng" dirty="0" smtClean="0"/>
              <a:t>2</a:t>
            </a:r>
            <a:r>
              <a:rPr lang="zh-CN" altLang="en-US" u="sng" dirty="0" smtClean="0"/>
              <a:t>期）时间缩短</a:t>
            </a:r>
            <a:r>
              <a:rPr lang="zh-CN" altLang="en-US" dirty="0" smtClean="0"/>
              <a:t>。心肌细胞钾离子通道叫做内向整流钾离子通道，细胞外钾离子减少，内向整流钾离子通道对钾离子的通透性减弱，</a:t>
            </a:r>
            <a:r>
              <a:rPr lang="zh-CN" altLang="en-US" u="sng" dirty="0" smtClean="0"/>
              <a:t>钾离子又缓慢外流使得</a:t>
            </a:r>
            <a:r>
              <a:rPr lang="en-US" altLang="zh-CN" u="sng" dirty="0" smtClean="0"/>
              <a:t>3</a:t>
            </a:r>
            <a:r>
              <a:rPr lang="zh-CN" altLang="en-US" u="sng" dirty="0" smtClean="0"/>
              <a:t>期延长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96B3EF-A7B6-472B-BEDA-234A241F21BC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96B3EF-A7B6-472B-BEDA-234A241F21BC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自己推测假想的图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96B3EF-A7B6-472B-BEDA-234A241F21BC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96B3EF-A7B6-472B-BEDA-234A241F21BC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1B0749-41CB-46E5-A2A8-3446441A712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E73B54-B4E5-4C63-9C34-7F62B6F8C31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A5A58A-3FDD-490A-8976-57E50E3EC64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16F5A2-F88E-4720-A7BD-C4D3420339B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188F9F-ACE6-416A-9D9B-B6FBEB6E48F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34743-C983-4E88-9D20-0368AF7B1EF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D89B9C-7F32-4D06-B0B4-9955488A85E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F2FBE0-119F-4882-8E81-A6A4965DF48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单圆角矩形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>
              <a:defRPr/>
            </a:pPr>
            <a:fld id="{868F331F-BEE2-4C61-8AD6-3D634162C01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10" name="任意多边形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任意多边形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43BD81-A501-46C0-A9BF-DBE07A83A90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28F5C-9155-46F0-95F1-F84B8A44238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A109F8F0-C34A-4364-9EAD-8612B6429E9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2" name="组合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任意多边形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任意多边形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4"/>
            </a:gs>
            <a:gs pos="25000">
              <a:schemeClr val="bg2">
                <a:tint val="83000"/>
                <a:satMod val="320000"/>
              </a:schemeClr>
            </a:gs>
            <a:gs pos="100000">
              <a:schemeClr val="bg2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18803845_1362968141131_800x60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2050"/>
          <p:cNvSpPr>
            <a:spLocks noGrp="1" noChangeArrowheads="1"/>
          </p:cNvSpPr>
          <p:nvPr>
            <p:ph type="ctrTitle"/>
          </p:nvPr>
        </p:nvSpPr>
        <p:spPr>
          <a:xfrm>
            <a:off x="111621" y="1772816"/>
            <a:ext cx="5324475" cy="1200150"/>
          </a:xfrm>
        </p:spPr>
        <p:txBody>
          <a:bodyPr>
            <a:noAutofit/>
          </a:bodyPr>
          <a:lstStyle/>
          <a:p>
            <a:r>
              <a:rPr lang="zh-CN" altLang="en-US" sz="8000" b="1" dirty="0" smtClean="0">
                <a:solidFill>
                  <a:srgbClr val="FFFF00"/>
                </a:solidFill>
                <a:latin typeface="Times New Roman" pitchFamily="18" charset="0"/>
              </a:rPr>
              <a:t>钾代谢障碍</a:t>
            </a:r>
          </a:p>
        </p:txBody>
      </p:sp>
      <p:sp>
        <p:nvSpPr>
          <p:cNvPr id="10" name="Rectangle 2051"/>
          <p:cNvSpPr>
            <a:spLocks noGrp="1" noChangeArrowheads="1"/>
          </p:cNvSpPr>
          <p:nvPr>
            <p:ph type="subTitle" idx="1"/>
          </p:nvPr>
        </p:nvSpPr>
        <p:spPr>
          <a:xfrm>
            <a:off x="1979712" y="5301208"/>
            <a:ext cx="5643602" cy="1071571"/>
          </a:xfrm>
        </p:spPr>
        <p:txBody>
          <a:bodyPr>
            <a:noAutofit/>
          </a:bodyPr>
          <a:lstStyle/>
          <a:p>
            <a:pPr algn="ctr"/>
            <a:r>
              <a:rPr lang="en-US" altLang="zh-CN" sz="3200" i="1" dirty="0" smtClean="0">
                <a:latin typeface="Times New Roman" pitchFamily="18" charset="0"/>
              </a:rPr>
              <a:t>Department of Pathophysiology</a:t>
            </a:r>
          </a:p>
          <a:p>
            <a:pPr algn="ctr"/>
            <a:r>
              <a:rPr lang="en-US" altLang="zh-CN" sz="3200" i="1" dirty="0" smtClean="0">
                <a:latin typeface="Times New Roman" pitchFamily="18" charset="0"/>
              </a:rPr>
              <a:t>Liu  Rong</a:t>
            </a:r>
          </a:p>
        </p:txBody>
      </p:sp>
      <p:sp>
        <p:nvSpPr>
          <p:cNvPr id="5" name="矩形 4"/>
          <p:cNvSpPr/>
          <p:nvPr/>
        </p:nvSpPr>
        <p:spPr>
          <a:xfrm>
            <a:off x="2483768" y="3140968"/>
            <a:ext cx="64299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 smtClean="0">
                <a:solidFill>
                  <a:srgbClr val="FFFF00"/>
                </a:solidFill>
              </a:rPr>
              <a:t>Disorders of Potassium Balance</a:t>
            </a:r>
            <a:endParaRPr lang="zh-CN" altLang="en-US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8350"/>
            <a:ext cx="7772400" cy="823913"/>
          </a:xfrm>
        </p:spPr>
        <p:txBody>
          <a:bodyPr/>
          <a:lstStyle/>
          <a:p>
            <a:r>
              <a:rPr lang="zh-CN" altLang="en-US" sz="4800" b="1" dirty="0" smtClean="0">
                <a:latin typeface="宋体" pitchFamily="2" charset="-122"/>
              </a:rPr>
              <a:t>钾的主要生理功能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00075" y="1928813"/>
            <a:ext cx="8043863" cy="2686050"/>
          </a:xfrm>
        </p:spPr>
        <p:txBody>
          <a:bodyPr>
            <a:normAutofit/>
          </a:bodyPr>
          <a:lstStyle/>
          <a:p>
            <a:pPr algn="just">
              <a:spcBef>
                <a:spcPct val="50000"/>
              </a:spcBef>
              <a:buClr>
                <a:srgbClr val="FF9900"/>
              </a:buClr>
              <a:buSzTx/>
              <a:buFont typeface="Wingdings" pitchFamily="2" charset="2"/>
              <a:buChar char="v"/>
            </a:pPr>
            <a:r>
              <a:rPr lang="en-US" altLang="zh-CN" sz="3200" dirty="0" smtClean="0">
                <a:latin typeface="宋体" pitchFamily="2" charset="-122"/>
              </a:rPr>
              <a:t> </a:t>
            </a:r>
            <a:r>
              <a:rPr lang="zh-CN" altLang="en-US" sz="3200" dirty="0" smtClean="0">
                <a:latin typeface="宋体" pitchFamily="2" charset="-122"/>
              </a:rPr>
              <a:t>调节细胞内外的渗透压和酸碱平衡</a:t>
            </a:r>
          </a:p>
          <a:p>
            <a:pPr algn="just">
              <a:spcBef>
                <a:spcPct val="50000"/>
              </a:spcBef>
              <a:buClr>
                <a:srgbClr val="FF9900"/>
              </a:buClr>
              <a:buSzTx/>
              <a:buFont typeface="Wingdings" pitchFamily="2" charset="2"/>
              <a:buChar char="v"/>
            </a:pPr>
            <a:r>
              <a:rPr lang="zh-CN" altLang="en-US" sz="3200" dirty="0" smtClean="0">
                <a:latin typeface="宋体" pitchFamily="2" charset="-122"/>
              </a:rPr>
              <a:t> 维持细胞静息膜电位</a:t>
            </a:r>
          </a:p>
          <a:p>
            <a:pPr algn="just">
              <a:spcBef>
                <a:spcPct val="50000"/>
              </a:spcBef>
              <a:buClr>
                <a:srgbClr val="FF9900"/>
              </a:buClr>
              <a:buSzTx/>
              <a:buFont typeface="Wingdings" pitchFamily="2" charset="2"/>
              <a:buChar char="v"/>
            </a:pPr>
            <a:r>
              <a:rPr lang="zh-CN" altLang="en-US" sz="3200" dirty="0" smtClean="0">
                <a:latin typeface="宋体" pitchFamily="2" charset="-122"/>
              </a:rPr>
              <a:t> 参与细胞新陈代谢</a:t>
            </a:r>
          </a:p>
          <a:p>
            <a:endParaRPr lang="en-US" altLang="zh-CN" sz="3200" dirty="0" smtClean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11188" y="219075"/>
            <a:ext cx="7772400" cy="76200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钾的分布和平衡</a:t>
            </a:r>
          </a:p>
        </p:txBody>
      </p:sp>
      <p:sp>
        <p:nvSpPr>
          <p:cNvPr id="26658" name="Rectangle 1058"/>
          <p:cNvSpPr>
            <a:spLocks noGrp="1" noChangeArrowheads="1"/>
          </p:cNvSpPr>
          <p:nvPr>
            <p:ph idx="1"/>
          </p:nvPr>
        </p:nvSpPr>
        <p:spPr>
          <a:xfrm>
            <a:off x="4752975" y="5554663"/>
            <a:ext cx="4572000" cy="1368425"/>
          </a:xfrm>
        </p:spPr>
        <p:txBody>
          <a:bodyPr rtlCol="0">
            <a:normAutofit fontScale="92500" lnSpcReduction="20000"/>
          </a:bodyPr>
          <a:lstStyle/>
          <a:p>
            <a:pPr fontAlgn="auto">
              <a:spcAft>
                <a:spcPts val="0"/>
              </a:spcAft>
              <a:buFont typeface="Wingdings 2"/>
              <a:buChar char=""/>
              <a:defRPr/>
            </a:pPr>
            <a:r>
              <a:rPr lang="zh-CN" altLang="en-US" sz="2000" b="1"/>
              <a:t>多吃多排</a:t>
            </a:r>
          </a:p>
          <a:p>
            <a:pPr fontAlgn="auto">
              <a:spcAft>
                <a:spcPts val="0"/>
              </a:spcAft>
              <a:buFont typeface="Wingdings 2"/>
              <a:buChar char=""/>
              <a:defRPr/>
            </a:pPr>
            <a:r>
              <a:rPr lang="zh-CN" altLang="en-US" sz="2000" b="1"/>
              <a:t>少吃少排</a:t>
            </a:r>
          </a:p>
          <a:p>
            <a:pPr fontAlgn="auto">
              <a:spcAft>
                <a:spcPts val="0"/>
              </a:spcAft>
              <a:buFont typeface="Wingdings 2"/>
              <a:buChar char=""/>
              <a:defRPr/>
            </a:pPr>
            <a:r>
              <a:rPr lang="zh-CN" altLang="en-US" sz="2000" b="1"/>
              <a:t>不吃也排</a:t>
            </a:r>
          </a:p>
          <a:p>
            <a:pPr fontAlgn="auto">
              <a:spcBef>
                <a:spcPct val="50000"/>
              </a:spcBef>
              <a:spcAft>
                <a:spcPts val="0"/>
              </a:spcAft>
              <a:buSzTx/>
              <a:buFontTx/>
              <a:buNone/>
              <a:defRPr/>
            </a:pPr>
            <a:r>
              <a:rPr lang="zh-CN" altLang="en-US" sz="2000" b="1"/>
              <a:t>     </a:t>
            </a:r>
          </a:p>
        </p:txBody>
      </p:sp>
      <p:sp>
        <p:nvSpPr>
          <p:cNvPr id="7171" name="Rectangle 1029"/>
          <p:cNvSpPr>
            <a:spLocks noChangeArrowheads="1"/>
          </p:cNvSpPr>
          <p:nvPr/>
        </p:nvSpPr>
        <p:spPr bwMode="auto">
          <a:xfrm>
            <a:off x="1836738" y="2133600"/>
            <a:ext cx="5184775" cy="2879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172" name="Group 1030"/>
          <p:cNvGrpSpPr>
            <a:grpSpLocks/>
          </p:cNvGrpSpPr>
          <p:nvPr/>
        </p:nvGrpSpPr>
        <p:grpSpPr bwMode="auto">
          <a:xfrm>
            <a:off x="1836738" y="2133600"/>
            <a:ext cx="1296987" cy="576263"/>
            <a:chOff x="1157" y="754"/>
            <a:chExt cx="817" cy="363"/>
          </a:xfrm>
        </p:grpSpPr>
        <p:sp>
          <p:nvSpPr>
            <p:cNvPr id="7198" name="Line 1031"/>
            <p:cNvSpPr>
              <a:spLocks noChangeShapeType="1"/>
            </p:cNvSpPr>
            <p:nvPr/>
          </p:nvSpPr>
          <p:spPr bwMode="auto">
            <a:xfrm>
              <a:off x="1974" y="754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9" name="Line 1032"/>
            <p:cNvSpPr>
              <a:spLocks noChangeShapeType="1"/>
            </p:cNvSpPr>
            <p:nvPr/>
          </p:nvSpPr>
          <p:spPr bwMode="auto">
            <a:xfrm>
              <a:off x="1157" y="1117"/>
              <a:ext cx="8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73" name="Text Box 1033"/>
          <p:cNvSpPr txBox="1">
            <a:spLocks noChangeArrowheads="1"/>
          </p:cNvSpPr>
          <p:nvPr/>
        </p:nvSpPr>
        <p:spPr bwMode="auto">
          <a:xfrm>
            <a:off x="322263" y="981075"/>
            <a:ext cx="1946275" cy="4572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latin typeface="Arial" charset="0"/>
              </a:rPr>
              <a:t>食物摄入</a:t>
            </a:r>
          </a:p>
        </p:txBody>
      </p:sp>
      <p:sp>
        <p:nvSpPr>
          <p:cNvPr id="7174" name="Rectangle 1034"/>
          <p:cNvSpPr>
            <a:spLocks noChangeArrowheads="1"/>
          </p:cNvSpPr>
          <p:nvPr/>
        </p:nvSpPr>
        <p:spPr bwMode="auto">
          <a:xfrm>
            <a:off x="395288" y="1401763"/>
            <a:ext cx="26336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zh-CN" sz="1800" b="1" dirty="0" smtClean="0">
                <a:latin typeface="Arial" charset="0"/>
              </a:rPr>
              <a:t>50~120 </a:t>
            </a:r>
            <a:r>
              <a:rPr kumimoji="0" lang="en-US" altLang="zh-CN" sz="1800" b="1" dirty="0" err="1" smtClean="0">
                <a:latin typeface="Arial" charset="0"/>
              </a:rPr>
              <a:t>mmol</a:t>
            </a:r>
            <a:r>
              <a:rPr kumimoji="0" lang="en-US" altLang="zh-CN" sz="1800" b="1" dirty="0" smtClean="0">
                <a:latin typeface="Arial" charset="0"/>
              </a:rPr>
              <a:t>/day</a:t>
            </a:r>
            <a:endParaRPr kumimoji="0" lang="en-US" altLang="zh-CN" sz="1800" b="1" dirty="0">
              <a:latin typeface="Arial" charset="0"/>
            </a:endParaRPr>
          </a:p>
        </p:txBody>
      </p:sp>
      <p:sp>
        <p:nvSpPr>
          <p:cNvPr id="7176" name="Line 1036"/>
          <p:cNvSpPr>
            <a:spLocks noChangeShapeType="1"/>
          </p:cNvSpPr>
          <p:nvPr/>
        </p:nvSpPr>
        <p:spPr bwMode="auto">
          <a:xfrm flipV="1">
            <a:off x="2700338" y="1701800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77" name="Line 1037"/>
          <p:cNvSpPr>
            <a:spLocks noChangeShapeType="1"/>
          </p:cNvSpPr>
          <p:nvPr/>
        </p:nvSpPr>
        <p:spPr bwMode="auto">
          <a:xfrm>
            <a:off x="2700338" y="1701800"/>
            <a:ext cx="720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78" name="Text Box 1038"/>
          <p:cNvSpPr txBox="1">
            <a:spLocks noChangeArrowheads="1"/>
          </p:cNvSpPr>
          <p:nvPr/>
        </p:nvSpPr>
        <p:spPr bwMode="auto">
          <a:xfrm>
            <a:off x="3492500" y="1447800"/>
            <a:ext cx="26638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latin typeface="Arial" charset="0"/>
              </a:rPr>
              <a:t>血清 </a:t>
            </a:r>
            <a:r>
              <a:rPr kumimoji="0" lang="en-US" altLang="zh-CN" b="1">
                <a:latin typeface="Arial" charset="0"/>
              </a:rPr>
              <a:t>[K</a:t>
            </a:r>
            <a:r>
              <a:rPr kumimoji="0" lang="en-US" altLang="zh-CN" b="1" baseline="30000">
                <a:latin typeface="Arial" charset="0"/>
              </a:rPr>
              <a:t>+</a:t>
            </a:r>
            <a:r>
              <a:rPr kumimoji="0" lang="en-US" altLang="zh-CN" b="1">
                <a:latin typeface="Arial" charset="0"/>
              </a:rPr>
              <a:t>]  </a:t>
            </a:r>
            <a:r>
              <a:rPr kumimoji="0" lang="en-US" altLang="zh-CN" sz="2000" b="1">
                <a:latin typeface="Arial" charset="0"/>
              </a:rPr>
              <a:t>4.5mmol/L</a:t>
            </a:r>
          </a:p>
        </p:txBody>
      </p:sp>
      <p:sp>
        <p:nvSpPr>
          <p:cNvPr id="7180" name="Text Box 1040"/>
          <p:cNvSpPr txBox="1">
            <a:spLocks noChangeArrowheads="1"/>
          </p:cNvSpPr>
          <p:nvPr/>
        </p:nvSpPr>
        <p:spPr bwMode="auto">
          <a:xfrm>
            <a:off x="2413000" y="2781300"/>
            <a:ext cx="5762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800" b="1">
                <a:latin typeface="Arial" charset="0"/>
              </a:rPr>
              <a:t>K</a:t>
            </a:r>
            <a:r>
              <a:rPr kumimoji="0" lang="en-US" altLang="zh-CN" sz="2000" b="1" baseline="30000">
                <a:latin typeface="Arial" charset="0"/>
              </a:rPr>
              <a:t>+</a:t>
            </a:r>
          </a:p>
        </p:txBody>
      </p:sp>
      <p:sp>
        <p:nvSpPr>
          <p:cNvPr id="7181" name="Text Box 1041"/>
          <p:cNvSpPr txBox="1">
            <a:spLocks noChangeArrowheads="1"/>
          </p:cNvSpPr>
          <p:nvPr/>
        </p:nvSpPr>
        <p:spPr bwMode="auto">
          <a:xfrm>
            <a:off x="2844800" y="5013325"/>
            <a:ext cx="3311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latin typeface="Arial" charset="0"/>
              </a:rPr>
              <a:t>皮肤     </a:t>
            </a:r>
            <a:r>
              <a:rPr kumimoji="0" lang="zh-CN" altLang="en-US" b="1">
                <a:latin typeface="Arial Narrow" pitchFamily="34" charset="0"/>
              </a:rPr>
              <a:t>微量</a:t>
            </a:r>
          </a:p>
        </p:txBody>
      </p:sp>
      <p:sp>
        <p:nvSpPr>
          <p:cNvPr id="7182" name="Text Box 1042"/>
          <p:cNvSpPr txBox="1">
            <a:spLocks noChangeArrowheads="1"/>
          </p:cNvSpPr>
          <p:nvPr/>
        </p:nvSpPr>
        <p:spPr bwMode="auto">
          <a:xfrm>
            <a:off x="2844800" y="5518150"/>
            <a:ext cx="2016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latin typeface="Arial" charset="0"/>
              </a:rPr>
              <a:t>结肠  </a:t>
            </a:r>
            <a:r>
              <a:rPr kumimoji="0" lang="en-US" altLang="zh-CN" b="1">
                <a:latin typeface="Arial" charset="0"/>
              </a:rPr>
              <a:t>10</a:t>
            </a:r>
            <a:r>
              <a:rPr kumimoji="0" lang="en-US" altLang="zh-CN" b="1">
                <a:latin typeface="Arial" charset="0"/>
                <a:cs typeface="Arial" charset="0"/>
              </a:rPr>
              <a:t>%</a:t>
            </a:r>
          </a:p>
        </p:txBody>
      </p:sp>
      <p:sp>
        <p:nvSpPr>
          <p:cNvPr id="7183" name="Text Box 1043"/>
          <p:cNvSpPr txBox="1">
            <a:spLocks noChangeArrowheads="1"/>
          </p:cNvSpPr>
          <p:nvPr/>
        </p:nvSpPr>
        <p:spPr bwMode="auto">
          <a:xfrm>
            <a:off x="2843213" y="5949950"/>
            <a:ext cx="2016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latin typeface="Arial" charset="0"/>
              </a:rPr>
              <a:t>肾脏 </a:t>
            </a:r>
            <a:r>
              <a:rPr kumimoji="0" lang="en-US" altLang="zh-CN" b="1">
                <a:latin typeface="Arial" charset="0"/>
              </a:rPr>
              <a:t>&gt; 80</a:t>
            </a:r>
            <a:r>
              <a:rPr kumimoji="0" lang="en-US" altLang="zh-CN" b="1">
                <a:latin typeface="Arial" charset="0"/>
                <a:cs typeface="Arial" charset="0"/>
              </a:rPr>
              <a:t>%</a:t>
            </a:r>
          </a:p>
        </p:txBody>
      </p:sp>
      <p:sp>
        <p:nvSpPr>
          <p:cNvPr id="7184" name="Line 1044"/>
          <p:cNvSpPr>
            <a:spLocks noChangeShapeType="1"/>
          </p:cNvSpPr>
          <p:nvPr/>
        </p:nvSpPr>
        <p:spPr bwMode="auto">
          <a:xfrm>
            <a:off x="1331913" y="2493963"/>
            <a:ext cx="504825" cy="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85" name="Line 1045"/>
          <p:cNvSpPr>
            <a:spLocks noChangeShapeType="1"/>
          </p:cNvSpPr>
          <p:nvPr/>
        </p:nvSpPr>
        <p:spPr bwMode="auto">
          <a:xfrm>
            <a:off x="1331913" y="2493963"/>
            <a:ext cx="0" cy="3167062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86" name="Line 1046"/>
          <p:cNvSpPr>
            <a:spLocks noChangeShapeType="1"/>
          </p:cNvSpPr>
          <p:nvPr/>
        </p:nvSpPr>
        <p:spPr bwMode="auto">
          <a:xfrm>
            <a:off x="1331913" y="5661025"/>
            <a:ext cx="720725" cy="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87" name="Text Box 1047"/>
          <p:cNvSpPr txBox="1">
            <a:spLocks noChangeArrowheads="1"/>
          </p:cNvSpPr>
          <p:nvPr/>
        </p:nvSpPr>
        <p:spPr bwMode="auto">
          <a:xfrm>
            <a:off x="766763" y="3286125"/>
            <a:ext cx="549275" cy="82867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latin typeface="Arial" charset="0"/>
              </a:rPr>
              <a:t>排出 </a:t>
            </a:r>
          </a:p>
        </p:txBody>
      </p:sp>
      <p:sp>
        <p:nvSpPr>
          <p:cNvPr id="7188" name="Text Box 1048"/>
          <p:cNvSpPr txBox="1">
            <a:spLocks noChangeArrowheads="1"/>
          </p:cNvSpPr>
          <p:nvPr/>
        </p:nvSpPr>
        <p:spPr bwMode="auto">
          <a:xfrm>
            <a:off x="4140200" y="2528888"/>
            <a:ext cx="9350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2000" b="1">
                <a:latin typeface="Arial" charset="0"/>
              </a:rPr>
              <a:t>ICF</a:t>
            </a:r>
          </a:p>
        </p:txBody>
      </p:sp>
      <p:sp>
        <p:nvSpPr>
          <p:cNvPr id="7189" name="Text Box 1049"/>
          <p:cNvSpPr txBox="1">
            <a:spLocks noChangeArrowheads="1"/>
          </p:cNvSpPr>
          <p:nvPr/>
        </p:nvSpPr>
        <p:spPr bwMode="auto">
          <a:xfrm>
            <a:off x="4140200" y="2997200"/>
            <a:ext cx="27892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800" b="1" dirty="0">
                <a:latin typeface="Arial" charset="0"/>
              </a:rPr>
              <a:t>[K</a:t>
            </a:r>
            <a:r>
              <a:rPr kumimoji="0" lang="en-US" altLang="zh-CN" sz="2000" b="1" baseline="30000" dirty="0">
                <a:latin typeface="Arial" charset="0"/>
              </a:rPr>
              <a:t>+</a:t>
            </a:r>
            <a:r>
              <a:rPr kumimoji="0" lang="en-US" altLang="zh-CN" sz="1800" b="1" dirty="0">
                <a:latin typeface="Arial" charset="0"/>
              </a:rPr>
              <a:t>]  140-160 </a:t>
            </a:r>
            <a:r>
              <a:rPr kumimoji="0" lang="en-US" altLang="zh-CN" sz="1800" b="1" dirty="0" err="1">
                <a:latin typeface="Arial" charset="0"/>
              </a:rPr>
              <a:t>mmol</a:t>
            </a:r>
            <a:r>
              <a:rPr kumimoji="0" lang="en-US" altLang="zh-CN" sz="1800" b="1" dirty="0">
                <a:latin typeface="Arial" charset="0"/>
              </a:rPr>
              <a:t>/L</a:t>
            </a:r>
          </a:p>
        </p:txBody>
      </p:sp>
      <p:sp>
        <p:nvSpPr>
          <p:cNvPr id="7190" name="Text Box 1050"/>
          <p:cNvSpPr txBox="1">
            <a:spLocks noChangeArrowheads="1"/>
          </p:cNvSpPr>
          <p:nvPr/>
        </p:nvSpPr>
        <p:spPr bwMode="auto">
          <a:xfrm>
            <a:off x="4140200" y="3429000"/>
            <a:ext cx="22320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2000" b="1">
                <a:latin typeface="Arial" charset="0"/>
              </a:rPr>
              <a:t>98</a:t>
            </a:r>
            <a:r>
              <a:rPr kumimoji="0" lang="en-US" altLang="zh-CN" sz="2000" b="1">
                <a:latin typeface="Arial" charset="0"/>
                <a:cs typeface="Arial" charset="0"/>
              </a:rPr>
              <a:t>% of the total body potassium</a:t>
            </a:r>
          </a:p>
        </p:txBody>
      </p:sp>
      <p:sp>
        <p:nvSpPr>
          <p:cNvPr id="7191" name="Text Box 1051"/>
          <p:cNvSpPr txBox="1">
            <a:spLocks noChangeArrowheads="1"/>
          </p:cNvSpPr>
          <p:nvPr/>
        </p:nvSpPr>
        <p:spPr bwMode="auto">
          <a:xfrm>
            <a:off x="7092950" y="2924175"/>
            <a:ext cx="16557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latin typeface="Arial" charset="0"/>
              </a:rPr>
              <a:t>机体总钾</a:t>
            </a:r>
          </a:p>
        </p:txBody>
      </p:sp>
      <p:sp>
        <p:nvSpPr>
          <p:cNvPr id="7192" name="Text Box 1052"/>
          <p:cNvSpPr txBox="1">
            <a:spLocks noChangeArrowheads="1"/>
          </p:cNvSpPr>
          <p:nvPr/>
        </p:nvSpPr>
        <p:spPr bwMode="auto">
          <a:xfrm>
            <a:off x="7056438" y="3429000"/>
            <a:ext cx="208756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2000" b="1">
                <a:latin typeface="Arial" charset="0"/>
              </a:rPr>
              <a:t>50~55</a:t>
            </a:r>
            <a:r>
              <a:rPr kumimoji="0" lang="en-US" altLang="zh-CN" sz="1800" b="1">
                <a:latin typeface="Arial" charset="0"/>
              </a:rPr>
              <a:t>mmol/Kg</a:t>
            </a:r>
            <a:r>
              <a:rPr kumimoji="0" lang="en-US" altLang="zh-CN" sz="2000" b="1">
                <a:latin typeface="Arial" charset="0"/>
              </a:rPr>
              <a:t> body weight</a:t>
            </a:r>
          </a:p>
        </p:txBody>
      </p:sp>
      <p:sp>
        <p:nvSpPr>
          <p:cNvPr id="7193" name="AutoShape 1053"/>
          <p:cNvSpPr>
            <a:spLocks noChangeArrowheads="1"/>
          </p:cNvSpPr>
          <p:nvPr/>
        </p:nvSpPr>
        <p:spPr bwMode="auto">
          <a:xfrm>
            <a:off x="1979613" y="1773238"/>
            <a:ext cx="288925" cy="288925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4" name="Line 1054"/>
          <p:cNvSpPr>
            <a:spLocks noChangeShapeType="1"/>
          </p:cNvSpPr>
          <p:nvPr/>
        </p:nvSpPr>
        <p:spPr bwMode="auto">
          <a:xfrm>
            <a:off x="2051050" y="5661025"/>
            <a:ext cx="7207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95" name="Line 1055"/>
          <p:cNvSpPr>
            <a:spLocks noChangeShapeType="1"/>
          </p:cNvSpPr>
          <p:nvPr/>
        </p:nvSpPr>
        <p:spPr bwMode="auto">
          <a:xfrm flipV="1">
            <a:off x="2051050" y="5302250"/>
            <a:ext cx="649288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96" name="Line 1056"/>
          <p:cNvSpPr>
            <a:spLocks noChangeShapeType="1"/>
          </p:cNvSpPr>
          <p:nvPr/>
        </p:nvSpPr>
        <p:spPr bwMode="auto">
          <a:xfrm>
            <a:off x="2051050" y="5661025"/>
            <a:ext cx="720725" cy="4333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1847271" y="2144431"/>
            <a:ext cx="1296144" cy="576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Box 1035"/>
          <p:cNvSpPr txBox="1">
            <a:spLocks noChangeArrowheads="1"/>
          </p:cNvSpPr>
          <p:nvPr/>
        </p:nvSpPr>
        <p:spPr bwMode="auto">
          <a:xfrm>
            <a:off x="1835696" y="2204864"/>
            <a:ext cx="1295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2000" b="1" dirty="0">
                <a:latin typeface="Arial" charset="0"/>
              </a:rPr>
              <a:t>ECF  2</a:t>
            </a:r>
            <a:r>
              <a:rPr kumimoji="0" lang="en-US" altLang="zh-CN" sz="2000" b="1" dirty="0">
                <a:latin typeface="Arial" charset="0"/>
                <a:cs typeface="Arial" charset="0"/>
              </a:rPr>
              <a:t>%</a:t>
            </a:r>
          </a:p>
        </p:txBody>
      </p:sp>
      <p:sp>
        <p:nvSpPr>
          <p:cNvPr id="34" name="Line 1039"/>
          <p:cNvSpPr>
            <a:spLocks noChangeShapeType="1"/>
          </p:cNvSpPr>
          <p:nvPr/>
        </p:nvSpPr>
        <p:spPr bwMode="auto">
          <a:xfrm>
            <a:off x="2843808" y="2564904"/>
            <a:ext cx="647700" cy="5048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6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6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5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5" descr="ji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2063" y="2420938"/>
            <a:ext cx="3114675" cy="3436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47"/>
          <p:cNvSpPr>
            <a:spLocks noGrp="1" noChangeArrowheads="1"/>
          </p:cNvSpPr>
          <p:nvPr>
            <p:ph type="title" idx="4294967295"/>
          </p:nvPr>
        </p:nvSpPr>
        <p:spPr>
          <a:xfrm>
            <a:off x="585814" y="800100"/>
            <a:ext cx="7772400" cy="76200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钾平衡的调节</a:t>
            </a:r>
          </a:p>
        </p:txBody>
      </p:sp>
      <p:sp>
        <p:nvSpPr>
          <p:cNvPr id="8197" name="Rectangle 49"/>
          <p:cNvSpPr>
            <a:spLocks noChangeArrowheads="1"/>
          </p:cNvSpPr>
          <p:nvPr/>
        </p:nvSpPr>
        <p:spPr bwMode="auto">
          <a:xfrm>
            <a:off x="785813" y="4071938"/>
            <a:ext cx="77724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SzPct val="85000"/>
              <a:buFontTx/>
              <a:buBlip>
                <a:blip r:embed="rId3"/>
              </a:buBlip>
            </a:pPr>
            <a:endParaRPr lang="zh-CN" altLang="en-US" sz="3200">
              <a:latin typeface="Arial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85800" y="1928802"/>
            <a:ext cx="7772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477AB1"/>
              </a:buClr>
              <a:buSzPct val="50000"/>
              <a:buFont typeface="Wingdings 2" pitchFamily="18" charset="2"/>
              <a:buChar char=""/>
            </a:pPr>
            <a:r>
              <a:rPr kumimoji="0" lang="zh-CN" altLang="en-US" sz="3200" dirty="0" smtClean="0">
                <a:solidFill>
                  <a:srgbClr val="000000"/>
                </a:solidFill>
                <a:latin typeface="Cambria" pitchFamily="18" charset="0"/>
                <a:ea typeface="华文楷体" pitchFamily="2" charset="-122"/>
              </a:rPr>
              <a:t>肾脏的调节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3"/>
          <p:cNvSpPr txBox="1">
            <a:spLocks noChangeArrowheads="1"/>
          </p:cNvSpPr>
          <p:nvPr/>
        </p:nvSpPr>
        <p:spPr bwMode="auto">
          <a:xfrm>
            <a:off x="3575050" y="577850"/>
            <a:ext cx="3511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600"/>
              <a:t>肾脏排钾的过程</a:t>
            </a:r>
            <a:r>
              <a:rPr lang="en-US" altLang="zh-CN" sz="3600"/>
              <a:t>:</a:t>
            </a:r>
          </a:p>
        </p:txBody>
      </p:sp>
      <p:sp>
        <p:nvSpPr>
          <p:cNvPr id="9219" name="Text Box 5"/>
          <p:cNvSpPr txBox="1">
            <a:spLocks noChangeArrowheads="1"/>
          </p:cNvSpPr>
          <p:nvPr/>
        </p:nvSpPr>
        <p:spPr bwMode="auto">
          <a:xfrm>
            <a:off x="3224213" y="1787525"/>
            <a:ext cx="40036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CC0099"/>
              </a:buClr>
              <a:buFont typeface="Wingdings" pitchFamily="2" charset="2"/>
              <a:buChar char="Ø"/>
            </a:pPr>
            <a:r>
              <a:rPr lang="en-US" altLang="zh-CN" sz="2800"/>
              <a:t>  </a:t>
            </a:r>
            <a:r>
              <a:rPr lang="zh-CN" altLang="en-US" sz="2800"/>
              <a:t>钾在肾小球的滤过</a:t>
            </a:r>
          </a:p>
        </p:txBody>
      </p:sp>
      <p:sp>
        <p:nvSpPr>
          <p:cNvPr id="9220" name="Text Box 6"/>
          <p:cNvSpPr txBox="1">
            <a:spLocks noChangeArrowheads="1"/>
          </p:cNvSpPr>
          <p:nvPr/>
        </p:nvSpPr>
        <p:spPr bwMode="auto">
          <a:xfrm>
            <a:off x="3224213" y="2689225"/>
            <a:ext cx="5491162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CC0099"/>
              </a:buClr>
              <a:buFont typeface="Wingdings" pitchFamily="2" charset="2"/>
              <a:buChar char="Ø"/>
            </a:pPr>
            <a:r>
              <a:rPr lang="en-US" altLang="zh-CN" sz="2800"/>
              <a:t>  90-95%</a:t>
            </a:r>
            <a:r>
              <a:rPr lang="zh-CN" altLang="en-US" sz="2800"/>
              <a:t>的钾在近曲小管和髓袢升支粗段重吸收</a:t>
            </a:r>
          </a:p>
        </p:txBody>
      </p:sp>
      <p:sp>
        <p:nvSpPr>
          <p:cNvPr id="9221" name="Text Box 8"/>
          <p:cNvSpPr txBox="1">
            <a:spLocks noChangeArrowheads="1"/>
          </p:cNvSpPr>
          <p:nvPr/>
        </p:nvSpPr>
        <p:spPr bwMode="auto">
          <a:xfrm>
            <a:off x="3240088" y="3833813"/>
            <a:ext cx="61896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0099"/>
              </a:buClr>
              <a:buFont typeface="Wingdings" pitchFamily="2" charset="2"/>
              <a:buChar char="Ø"/>
            </a:pPr>
            <a:r>
              <a:rPr lang="en-US" altLang="zh-CN" sz="2800"/>
              <a:t>  </a:t>
            </a:r>
            <a:r>
              <a:rPr lang="zh-CN" altLang="en-US" sz="2800"/>
              <a:t>远曲小管和集合管的主细胞泌钾</a:t>
            </a:r>
          </a:p>
        </p:txBody>
      </p:sp>
      <p:sp>
        <p:nvSpPr>
          <p:cNvPr id="9222" name="Text Box 10"/>
          <p:cNvSpPr txBox="1">
            <a:spLocks noChangeArrowheads="1"/>
          </p:cNvSpPr>
          <p:nvPr/>
        </p:nvSpPr>
        <p:spPr bwMode="auto">
          <a:xfrm>
            <a:off x="3254375" y="4768850"/>
            <a:ext cx="5246688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0099"/>
              </a:buClr>
              <a:buFont typeface="Wingdings" pitchFamily="2" charset="2"/>
              <a:buChar char="Ø"/>
            </a:pPr>
            <a:r>
              <a:rPr lang="en-US" altLang="zh-CN" sz="2800"/>
              <a:t>  </a:t>
            </a:r>
            <a:r>
              <a:rPr lang="zh-CN" altLang="en-US" sz="2800"/>
              <a:t>远曲小管和集合管的闰细胞重吸收钾</a:t>
            </a:r>
          </a:p>
        </p:txBody>
      </p:sp>
      <p:pic>
        <p:nvPicPr>
          <p:cNvPr id="9223" name="Picture 11" descr="renal tubu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13" y="863600"/>
            <a:ext cx="2447925" cy="5994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</p:pic>
      <p:sp>
        <p:nvSpPr>
          <p:cNvPr id="9224" name="Rectangle 12"/>
          <p:cNvSpPr>
            <a:spLocks noChangeArrowheads="1"/>
          </p:cNvSpPr>
          <p:nvPr/>
        </p:nvSpPr>
        <p:spPr bwMode="auto">
          <a:xfrm>
            <a:off x="1547813" y="1320800"/>
            <a:ext cx="1103312" cy="4572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zh-CN" altLang="en-US" b="1"/>
              <a:t>肾小球</a:t>
            </a:r>
          </a:p>
        </p:txBody>
      </p:sp>
      <p:sp>
        <p:nvSpPr>
          <p:cNvPr id="9225" name="Rectangle 13"/>
          <p:cNvSpPr>
            <a:spLocks noChangeArrowheads="1"/>
          </p:cNvSpPr>
          <p:nvPr/>
        </p:nvSpPr>
        <p:spPr bwMode="auto">
          <a:xfrm>
            <a:off x="1228725" y="2616200"/>
            <a:ext cx="1409700" cy="4572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zh-CN" altLang="en-US" b="1"/>
              <a:t>近曲小管</a:t>
            </a:r>
          </a:p>
        </p:txBody>
      </p:sp>
      <p:sp>
        <p:nvSpPr>
          <p:cNvPr id="9226" name="Rectangle 14"/>
          <p:cNvSpPr>
            <a:spLocks noChangeArrowheads="1"/>
          </p:cNvSpPr>
          <p:nvPr/>
        </p:nvSpPr>
        <p:spPr bwMode="auto">
          <a:xfrm>
            <a:off x="1331913" y="4030663"/>
            <a:ext cx="796925" cy="4572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zh-CN" altLang="en-US" b="1"/>
              <a:t>髓袢</a:t>
            </a:r>
          </a:p>
        </p:txBody>
      </p:sp>
      <p:sp>
        <p:nvSpPr>
          <p:cNvPr id="9227" name="Rectangle 15"/>
          <p:cNvSpPr>
            <a:spLocks noChangeArrowheads="1"/>
          </p:cNvSpPr>
          <p:nvPr/>
        </p:nvSpPr>
        <p:spPr bwMode="auto">
          <a:xfrm>
            <a:off x="1258888" y="5132388"/>
            <a:ext cx="1152525" cy="4572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/>
              <a:t>集合管</a:t>
            </a:r>
          </a:p>
        </p:txBody>
      </p:sp>
      <p:sp>
        <p:nvSpPr>
          <p:cNvPr id="9228" name="Rectangle 16"/>
          <p:cNvSpPr>
            <a:spLocks noChangeArrowheads="1"/>
          </p:cNvSpPr>
          <p:nvPr/>
        </p:nvSpPr>
        <p:spPr bwMode="auto">
          <a:xfrm>
            <a:off x="1403350" y="4606925"/>
            <a:ext cx="1584325" cy="4572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/>
              <a:t>远曲小管</a:t>
            </a:r>
          </a:p>
        </p:txBody>
      </p:sp>
      <p:sp>
        <p:nvSpPr>
          <p:cNvPr id="9229" name="AutoShape 17"/>
          <p:cNvSpPr>
            <a:spLocks noChangeArrowheads="1"/>
          </p:cNvSpPr>
          <p:nvPr/>
        </p:nvSpPr>
        <p:spPr bwMode="auto">
          <a:xfrm>
            <a:off x="755650" y="2709863"/>
            <a:ext cx="430213" cy="358775"/>
          </a:xfrm>
          <a:prstGeom prst="rightArrow">
            <a:avLst>
              <a:gd name="adj1" fmla="val 50000"/>
              <a:gd name="adj2" fmla="val 2997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0" name="Rectangle 18"/>
          <p:cNvSpPr>
            <a:spLocks noChangeArrowheads="1"/>
          </p:cNvSpPr>
          <p:nvPr/>
        </p:nvSpPr>
        <p:spPr bwMode="auto">
          <a:xfrm>
            <a:off x="592138" y="2179638"/>
            <a:ext cx="523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zh-CN" b="1">
                <a:latin typeface="Arial" charset="0"/>
              </a:rPr>
              <a:t>K</a:t>
            </a:r>
            <a:r>
              <a:rPr kumimoji="0" lang="en-US" altLang="zh-CN" b="1" baseline="30000">
                <a:latin typeface="Arial" charset="0"/>
              </a:rPr>
              <a:t>+</a:t>
            </a:r>
            <a:endParaRPr kumimoji="0" lang="en-US" altLang="zh-CN" b="1">
              <a:latin typeface="Arial" charset="0"/>
            </a:endParaRPr>
          </a:p>
        </p:txBody>
      </p:sp>
      <p:sp>
        <p:nvSpPr>
          <p:cNvPr id="9231" name="AutoShape 19"/>
          <p:cNvSpPr>
            <a:spLocks noChangeArrowheads="1"/>
          </p:cNvSpPr>
          <p:nvPr/>
        </p:nvSpPr>
        <p:spPr bwMode="auto">
          <a:xfrm>
            <a:off x="827088" y="4221163"/>
            <a:ext cx="288925" cy="14446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2" name="AutoShape 20"/>
          <p:cNvSpPr>
            <a:spLocks noChangeArrowheads="1"/>
          </p:cNvSpPr>
          <p:nvPr/>
        </p:nvSpPr>
        <p:spPr bwMode="auto">
          <a:xfrm>
            <a:off x="827088" y="4941888"/>
            <a:ext cx="287337" cy="142875"/>
          </a:xfrm>
          <a:prstGeom prst="leftArrow">
            <a:avLst>
              <a:gd name="adj1" fmla="val 50000"/>
              <a:gd name="adj2" fmla="val 50278"/>
            </a:avLst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3" name="Rectangle 21"/>
          <p:cNvSpPr>
            <a:spLocks noChangeArrowheads="1"/>
          </p:cNvSpPr>
          <p:nvPr/>
        </p:nvSpPr>
        <p:spPr bwMode="auto">
          <a:xfrm>
            <a:off x="533400" y="5637213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zh-CN" sz="1800" b="1">
                <a:latin typeface="Arial" charset="0"/>
              </a:rPr>
              <a:t>K</a:t>
            </a:r>
            <a:r>
              <a:rPr kumimoji="0" lang="en-US" altLang="zh-CN" sz="1800" b="1" baseline="30000">
                <a:latin typeface="Arial" charset="0"/>
              </a:rPr>
              <a:t>+</a:t>
            </a:r>
            <a:endParaRPr kumimoji="0" lang="en-US" altLang="zh-CN" sz="1800" b="1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671513" y="220663"/>
            <a:ext cx="1809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endParaRPr lang="zh-CN" altLang="zh-CN" sz="3200"/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381000" y="152400"/>
            <a:ext cx="38385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3600"/>
              <a:t>影响肾排钾的因素</a:t>
            </a:r>
          </a:p>
        </p:txBody>
      </p:sp>
      <p:grpSp>
        <p:nvGrpSpPr>
          <p:cNvPr id="2" name="组合 60"/>
          <p:cNvGrpSpPr>
            <a:grpSpLocks/>
          </p:cNvGrpSpPr>
          <p:nvPr/>
        </p:nvGrpSpPr>
        <p:grpSpPr bwMode="auto">
          <a:xfrm>
            <a:off x="6233219" y="2204864"/>
            <a:ext cx="3092450" cy="685800"/>
            <a:chOff x="5513394" y="2340842"/>
            <a:chExt cx="3092454" cy="685800"/>
          </a:xfrm>
        </p:grpSpPr>
        <p:sp>
          <p:nvSpPr>
            <p:cNvPr id="10292" name="AutoShape 98"/>
            <p:cNvSpPr>
              <a:spLocks noChangeArrowheads="1"/>
            </p:cNvSpPr>
            <p:nvPr/>
          </p:nvSpPr>
          <p:spPr bwMode="gray">
            <a:xfrm>
              <a:off x="5894394" y="2459905"/>
              <a:ext cx="2211377" cy="4572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AAECE"/>
                </a:gs>
                <a:gs pos="50000">
                  <a:srgbClr val="E6EEF5"/>
                </a:gs>
                <a:gs pos="100000">
                  <a:srgbClr val="8AAECE"/>
                </a:gs>
              </a:gsLst>
              <a:lin ang="540000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3" name="AutoShape 99"/>
            <p:cNvSpPr>
              <a:spLocks noChangeArrowheads="1"/>
            </p:cNvSpPr>
            <p:nvPr/>
          </p:nvSpPr>
          <p:spPr bwMode="gray">
            <a:xfrm>
              <a:off x="5513394" y="2340842"/>
              <a:ext cx="685800" cy="685800"/>
            </a:xfrm>
            <a:prstGeom prst="diamond">
              <a:avLst/>
            </a:prstGeom>
            <a:solidFill>
              <a:srgbClr val="8AAECE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294" name="Group 120"/>
            <p:cNvGrpSpPr>
              <a:grpSpLocks/>
            </p:cNvGrpSpPr>
            <p:nvPr/>
          </p:nvGrpSpPr>
          <p:grpSpPr bwMode="auto">
            <a:xfrm>
              <a:off x="5667384" y="2413867"/>
              <a:ext cx="2938464" cy="538163"/>
              <a:chOff x="3158" y="1360"/>
              <a:chExt cx="1851" cy="339"/>
            </a:xfrm>
          </p:grpSpPr>
          <p:sp>
            <p:nvSpPr>
              <p:cNvPr id="10295" name="Text Box 100"/>
              <p:cNvSpPr txBox="1">
                <a:spLocks noChangeArrowheads="1"/>
              </p:cNvSpPr>
              <p:nvPr/>
            </p:nvSpPr>
            <p:spPr bwMode="gray">
              <a:xfrm>
                <a:off x="3310" y="1408"/>
                <a:ext cx="1699" cy="29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0" hangingPunct="0"/>
                <a:r>
                  <a:rPr lang="zh-CN" altLang="en-US" b="1">
                    <a:solidFill>
                      <a:srgbClr val="000000"/>
                    </a:solidFill>
                  </a:rPr>
                  <a:t>胞外钾浓度</a:t>
                </a:r>
              </a:p>
            </p:txBody>
          </p:sp>
          <p:sp>
            <p:nvSpPr>
              <p:cNvPr id="10296" name="Text Box 101"/>
              <p:cNvSpPr txBox="1">
                <a:spLocks noChangeArrowheads="1"/>
              </p:cNvSpPr>
              <p:nvPr/>
            </p:nvSpPr>
            <p:spPr bwMode="gray">
              <a:xfrm>
                <a:off x="3158" y="1360"/>
                <a:ext cx="223" cy="28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zh-CN">
                    <a:solidFill>
                      <a:srgbClr val="FFFFFF"/>
                    </a:solidFill>
                  </a:rPr>
                  <a:t>1</a:t>
                </a:r>
              </a:p>
            </p:txBody>
          </p:sp>
        </p:grpSp>
      </p:grpSp>
      <p:grpSp>
        <p:nvGrpSpPr>
          <p:cNvPr id="4" name="Group 130"/>
          <p:cNvGrpSpPr>
            <a:grpSpLocks/>
          </p:cNvGrpSpPr>
          <p:nvPr/>
        </p:nvGrpSpPr>
        <p:grpSpPr bwMode="auto">
          <a:xfrm>
            <a:off x="6233219" y="3705051"/>
            <a:ext cx="3009900" cy="685800"/>
            <a:chOff x="3061" y="1298"/>
            <a:chExt cx="1896" cy="432"/>
          </a:xfrm>
        </p:grpSpPr>
        <p:sp>
          <p:nvSpPr>
            <p:cNvPr id="10287" name="AutoShape 131"/>
            <p:cNvSpPr>
              <a:spLocks noChangeArrowheads="1"/>
            </p:cNvSpPr>
            <p:nvPr/>
          </p:nvSpPr>
          <p:spPr bwMode="gray">
            <a:xfrm>
              <a:off x="3301" y="1373"/>
              <a:ext cx="1438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AAECE"/>
                </a:gs>
                <a:gs pos="50000">
                  <a:srgbClr val="E6EEF5"/>
                </a:gs>
                <a:gs pos="100000">
                  <a:srgbClr val="8AAECE"/>
                </a:gs>
              </a:gsLst>
              <a:lin ang="540000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88" name="AutoShape 132"/>
            <p:cNvSpPr>
              <a:spLocks noChangeArrowheads="1"/>
            </p:cNvSpPr>
            <p:nvPr/>
          </p:nvSpPr>
          <p:spPr bwMode="gray">
            <a:xfrm>
              <a:off x="3061" y="1298"/>
              <a:ext cx="432" cy="432"/>
            </a:xfrm>
            <a:prstGeom prst="diamond">
              <a:avLst/>
            </a:prstGeom>
            <a:solidFill>
              <a:srgbClr val="8AAECE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289" name="Group 133"/>
            <p:cNvGrpSpPr>
              <a:grpSpLocks/>
            </p:cNvGrpSpPr>
            <p:nvPr/>
          </p:nvGrpSpPr>
          <p:grpSpPr bwMode="auto">
            <a:xfrm>
              <a:off x="3158" y="1344"/>
              <a:ext cx="1799" cy="339"/>
              <a:chOff x="3158" y="1360"/>
              <a:chExt cx="1799" cy="339"/>
            </a:xfrm>
          </p:grpSpPr>
          <p:sp>
            <p:nvSpPr>
              <p:cNvPr id="10290" name="Text Box 134"/>
              <p:cNvSpPr txBox="1">
                <a:spLocks noChangeArrowheads="1"/>
              </p:cNvSpPr>
              <p:nvPr/>
            </p:nvSpPr>
            <p:spPr bwMode="gray">
              <a:xfrm>
                <a:off x="3209" y="1408"/>
                <a:ext cx="1748" cy="29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0" hangingPunct="0"/>
                <a:r>
                  <a:rPr lang="zh-CN" altLang="en-US" b="1">
                    <a:solidFill>
                      <a:srgbClr val="000000"/>
                    </a:solidFill>
                  </a:rPr>
                  <a:t>远端流速</a:t>
                </a:r>
              </a:p>
            </p:txBody>
          </p:sp>
          <p:sp>
            <p:nvSpPr>
              <p:cNvPr id="10291" name="Text Box 135"/>
              <p:cNvSpPr txBox="1">
                <a:spLocks noChangeArrowheads="1"/>
              </p:cNvSpPr>
              <p:nvPr/>
            </p:nvSpPr>
            <p:spPr bwMode="gray">
              <a:xfrm>
                <a:off x="3158" y="1360"/>
                <a:ext cx="223" cy="28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zh-CN">
                    <a:solidFill>
                      <a:srgbClr val="FFFFFF"/>
                    </a:solidFill>
                  </a:rPr>
                  <a:t>3</a:t>
                </a:r>
              </a:p>
            </p:txBody>
          </p:sp>
        </p:grpSp>
      </p:grpSp>
      <p:grpSp>
        <p:nvGrpSpPr>
          <p:cNvPr id="6" name="组合 61"/>
          <p:cNvGrpSpPr>
            <a:grpSpLocks/>
          </p:cNvGrpSpPr>
          <p:nvPr/>
        </p:nvGrpSpPr>
        <p:grpSpPr bwMode="auto">
          <a:xfrm>
            <a:off x="5720456" y="2950989"/>
            <a:ext cx="3429000" cy="685800"/>
            <a:chOff x="5000628" y="3086967"/>
            <a:chExt cx="3429000" cy="685800"/>
          </a:xfrm>
        </p:grpSpPr>
        <p:sp>
          <p:nvSpPr>
            <p:cNvPr id="10283" name="AutoShape 137"/>
            <p:cNvSpPr>
              <a:spLocks noChangeArrowheads="1"/>
            </p:cNvSpPr>
            <p:nvPr/>
          </p:nvSpPr>
          <p:spPr bwMode="gray">
            <a:xfrm>
              <a:off x="5881694" y="3206030"/>
              <a:ext cx="2295515" cy="4572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009999"/>
                </a:gs>
                <a:gs pos="50000">
                  <a:srgbClr val="C9E9E9"/>
                </a:gs>
                <a:gs pos="100000">
                  <a:srgbClr val="009999"/>
                </a:gs>
              </a:gsLst>
              <a:lin ang="540000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84" name="AutoShape 138"/>
            <p:cNvSpPr>
              <a:spLocks noChangeArrowheads="1"/>
            </p:cNvSpPr>
            <p:nvPr/>
          </p:nvSpPr>
          <p:spPr bwMode="gray">
            <a:xfrm>
              <a:off x="5500694" y="3086967"/>
              <a:ext cx="685800" cy="685800"/>
            </a:xfrm>
            <a:prstGeom prst="diamond">
              <a:avLst/>
            </a:prstGeom>
            <a:solidFill>
              <a:srgbClr val="009999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85" name="Text Box 139"/>
            <p:cNvSpPr txBox="1">
              <a:spLocks noChangeArrowheads="1"/>
            </p:cNvSpPr>
            <p:nvPr/>
          </p:nvSpPr>
          <p:spPr bwMode="gray">
            <a:xfrm>
              <a:off x="5000628" y="3181351"/>
              <a:ext cx="3429000" cy="46196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 b="1">
                  <a:solidFill>
                    <a:srgbClr val="000000"/>
                  </a:solidFill>
                </a:rPr>
                <a:t>Ald </a:t>
              </a:r>
            </a:p>
          </p:txBody>
        </p:sp>
        <p:sp>
          <p:nvSpPr>
            <p:cNvPr id="10286" name="Text Box 140"/>
            <p:cNvSpPr txBox="1">
              <a:spLocks noChangeArrowheads="1"/>
            </p:cNvSpPr>
            <p:nvPr/>
          </p:nvSpPr>
          <p:spPr bwMode="gray">
            <a:xfrm>
              <a:off x="5654681" y="3185392"/>
              <a:ext cx="354012" cy="45720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FFFFFF"/>
                  </a:solidFill>
                </a:rPr>
                <a:t>2</a:t>
              </a:r>
            </a:p>
          </p:txBody>
        </p:sp>
      </p:grpSp>
      <p:grpSp>
        <p:nvGrpSpPr>
          <p:cNvPr id="7" name="组合 63"/>
          <p:cNvGrpSpPr>
            <a:grpSpLocks/>
          </p:cNvGrpSpPr>
          <p:nvPr/>
        </p:nvGrpSpPr>
        <p:grpSpPr bwMode="auto">
          <a:xfrm>
            <a:off x="6220519" y="4490864"/>
            <a:ext cx="3248025" cy="944562"/>
            <a:chOff x="5500694" y="4626847"/>
            <a:chExt cx="3248019" cy="945293"/>
          </a:xfrm>
        </p:grpSpPr>
        <p:sp>
          <p:nvSpPr>
            <p:cNvPr id="10278" name="AutoShape 137"/>
            <p:cNvSpPr>
              <a:spLocks noChangeArrowheads="1"/>
            </p:cNvSpPr>
            <p:nvPr/>
          </p:nvSpPr>
          <p:spPr bwMode="gray">
            <a:xfrm>
              <a:off x="5881694" y="4745910"/>
              <a:ext cx="2295515" cy="4572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009999"/>
                </a:gs>
                <a:gs pos="50000">
                  <a:srgbClr val="C9E9E9"/>
                </a:gs>
                <a:gs pos="100000">
                  <a:srgbClr val="009999"/>
                </a:gs>
              </a:gsLst>
              <a:lin ang="540000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279" name="组合 62"/>
            <p:cNvGrpSpPr>
              <a:grpSpLocks/>
            </p:cNvGrpSpPr>
            <p:nvPr/>
          </p:nvGrpSpPr>
          <p:grpSpPr bwMode="auto">
            <a:xfrm>
              <a:off x="5500694" y="4626847"/>
              <a:ext cx="3248019" cy="945293"/>
              <a:chOff x="5500694" y="4626847"/>
              <a:chExt cx="3248019" cy="945293"/>
            </a:xfrm>
          </p:grpSpPr>
          <p:sp>
            <p:nvSpPr>
              <p:cNvPr id="10280" name="AutoShape 138"/>
              <p:cNvSpPr>
                <a:spLocks noChangeArrowheads="1"/>
              </p:cNvSpPr>
              <p:nvPr/>
            </p:nvSpPr>
            <p:spPr bwMode="gray">
              <a:xfrm>
                <a:off x="5500694" y="4626847"/>
                <a:ext cx="685800" cy="685800"/>
              </a:xfrm>
              <a:prstGeom prst="diamond">
                <a:avLst/>
              </a:prstGeom>
              <a:solidFill>
                <a:srgbClr val="009999"/>
              </a:solidFill>
              <a:ln w="25400" algn="ctr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81" name="Text Box 139"/>
              <p:cNvSpPr txBox="1">
                <a:spLocks noChangeArrowheads="1"/>
              </p:cNvSpPr>
              <p:nvPr/>
            </p:nvSpPr>
            <p:spPr bwMode="gray">
              <a:xfrm>
                <a:off x="5534003" y="4741143"/>
                <a:ext cx="3214710" cy="83099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0" hangingPunct="0"/>
                <a:r>
                  <a:rPr lang="zh-CN" altLang="en-US" b="1">
                    <a:solidFill>
                      <a:srgbClr val="000000"/>
                    </a:solidFill>
                  </a:rPr>
                  <a:t>酸碱状态</a:t>
                </a:r>
              </a:p>
              <a:p>
                <a:pPr algn="ctr" eaLnBrk="0" hangingPunct="0"/>
                <a:r>
                  <a:rPr lang="en-US" altLang="zh-CN" b="1">
                    <a:solidFill>
                      <a:srgbClr val="000000"/>
                    </a:solidFill>
                  </a:rPr>
                  <a:t> </a:t>
                </a:r>
              </a:p>
            </p:txBody>
          </p:sp>
          <p:sp>
            <p:nvSpPr>
              <p:cNvPr id="10282" name="Text Box 140"/>
              <p:cNvSpPr txBox="1">
                <a:spLocks noChangeArrowheads="1"/>
              </p:cNvSpPr>
              <p:nvPr/>
            </p:nvSpPr>
            <p:spPr bwMode="gray">
              <a:xfrm>
                <a:off x="5654681" y="4725272"/>
                <a:ext cx="338555" cy="46166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zh-CN">
                    <a:solidFill>
                      <a:srgbClr val="FFFFFF"/>
                    </a:solidFill>
                  </a:rPr>
                  <a:t>4</a:t>
                </a:r>
              </a:p>
            </p:txBody>
          </p:sp>
        </p:grpSp>
      </p:grpSp>
      <p:pic>
        <p:nvPicPr>
          <p:cNvPr id="57" name="图片 56" descr="F1.larg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1556792"/>
            <a:ext cx="5811453" cy="371388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051720" y="5445224"/>
            <a:ext cx="3312368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主细胞 （</a:t>
            </a:r>
            <a:r>
              <a:rPr lang="en-US" altLang="zh-CN" b="1" dirty="0" smtClean="0"/>
              <a:t>Principle cell</a:t>
            </a:r>
            <a:r>
              <a:rPr lang="zh-CN" altLang="en-US" b="1" dirty="0" smtClean="0"/>
              <a:t>）</a:t>
            </a:r>
            <a:endParaRPr lang="zh-CN" altLang="en-US" b="1" dirty="0"/>
          </a:p>
        </p:txBody>
      </p:sp>
      <p:sp>
        <p:nvSpPr>
          <p:cNvPr id="29" name="上弧形箭头 28"/>
          <p:cNvSpPr/>
          <p:nvPr/>
        </p:nvSpPr>
        <p:spPr>
          <a:xfrm rot="2345050">
            <a:off x="3237343" y="2228784"/>
            <a:ext cx="2169165" cy="419331"/>
          </a:xfrm>
          <a:prstGeom prst="curvedDownArrow">
            <a:avLst/>
          </a:prstGeom>
          <a:solidFill>
            <a:srgbClr val="FF999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427984" y="1844824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+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7"/>
          <p:cNvSpPr>
            <a:spLocks noGrp="1" noChangeArrowheads="1"/>
          </p:cNvSpPr>
          <p:nvPr>
            <p:ph type="title" idx="4294967295"/>
          </p:nvPr>
        </p:nvSpPr>
        <p:spPr>
          <a:xfrm>
            <a:off x="585814" y="800100"/>
            <a:ext cx="7772400" cy="76200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钾平衡的调节</a:t>
            </a:r>
          </a:p>
        </p:txBody>
      </p:sp>
      <p:sp>
        <p:nvSpPr>
          <p:cNvPr id="7" name="Rectangle 48"/>
          <p:cNvSpPr txBox="1">
            <a:spLocks noChangeArrowheads="1"/>
          </p:cNvSpPr>
          <p:nvPr/>
        </p:nvSpPr>
        <p:spPr>
          <a:xfrm>
            <a:off x="679450" y="2428875"/>
            <a:ext cx="7772400" cy="1016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Wingdings 2"/>
              <a:buChar char=""/>
              <a:defRPr/>
            </a:pPr>
            <a:endParaRPr kumimoji="0" lang="zh-CN" altLang="en-US" sz="3200" dirty="0">
              <a:latin typeface="+mn-lt"/>
              <a:ea typeface="+mn-ea"/>
            </a:endParaRPr>
          </a:p>
        </p:txBody>
      </p:sp>
      <p:sp>
        <p:nvSpPr>
          <p:cNvPr id="11270" name="Rectangle 2"/>
          <p:cNvSpPr>
            <a:spLocks noChangeArrowheads="1"/>
          </p:cNvSpPr>
          <p:nvPr/>
        </p:nvSpPr>
        <p:spPr bwMode="auto">
          <a:xfrm>
            <a:off x="685800" y="2773363"/>
            <a:ext cx="77724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477AB1"/>
              </a:buClr>
              <a:buSzPct val="50000"/>
              <a:buFont typeface="Wingdings 2" pitchFamily="18" charset="2"/>
              <a:buChar char=""/>
            </a:pPr>
            <a:r>
              <a:rPr kumimoji="0" lang="zh-CN" altLang="en-US" sz="3200" dirty="0">
                <a:solidFill>
                  <a:srgbClr val="000000"/>
                </a:solidFill>
                <a:latin typeface="Cambria" pitchFamily="18" charset="0"/>
                <a:ea typeface="华文楷体" pitchFamily="2" charset="-122"/>
              </a:rPr>
              <a:t>钾在细胞内外的移动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685800" y="1928802"/>
            <a:ext cx="7772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477AB1"/>
              </a:buClr>
              <a:buSzPct val="50000"/>
              <a:buFont typeface="Wingdings 2" pitchFamily="18" charset="2"/>
              <a:buChar char=""/>
            </a:pPr>
            <a:r>
              <a:rPr kumimoji="0" lang="zh-CN" altLang="en-US" sz="3200" dirty="0" smtClean="0">
                <a:solidFill>
                  <a:srgbClr val="000000"/>
                </a:solidFill>
                <a:latin typeface="Cambria" pitchFamily="18" charset="0"/>
                <a:ea typeface="华文楷体" pitchFamily="2" charset="-122"/>
              </a:rPr>
              <a:t>肾脏的调节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685800" y="609600"/>
            <a:ext cx="77724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477AB1"/>
              </a:buClr>
              <a:buSzPct val="50000"/>
              <a:buFont typeface="Wingdings 2" pitchFamily="18" charset="2"/>
              <a:buChar char=""/>
            </a:pPr>
            <a:r>
              <a:rPr kumimoji="0" lang="zh-CN" altLang="en-US" sz="3600" b="1">
                <a:solidFill>
                  <a:srgbClr val="000000"/>
                </a:solidFill>
                <a:latin typeface="Cambria" pitchFamily="18" charset="0"/>
                <a:ea typeface="华文楷体" pitchFamily="2" charset="-122"/>
              </a:rPr>
              <a:t>钾在细胞内外的移动</a:t>
            </a:r>
          </a:p>
        </p:txBody>
      </p:sp>
      <p:sp>
        <p:nvSpPr>
          <p:cNvPr id="29" name="Rectangle 2"/>
          <p:cNvSpPr>
            <a:spLocks noChangeArrowheads="1"/>
          </p:cNvSpPr>
          <p:nvPr/>
        </p:nvSpPr>
        <p:spPr bwMode="auto">
          <a:xfrm>
            <a:off x="3817938" y="2068513"/>
            <a:ext cx="5291137" cy="407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FFF00"/>
              </a:buClr>
              <a:buSzPct val="80000"/>
              <a:buFont typeface="Wingdings" pitchFamily="2" charset="2"/>
              <a:buNone/>
            </a:pPr>
            <a:r>
              <a:rPr lang="en-US" altLang="zh-CN" sz="2800" dirty="0"/>
              <a:t>1.</a:t>
            </a:r>
            <a:r>
              <a:rPr lang="zh-CN" altLang="en-US" sz="2800" b="1" dirty="0"/>
              <a:t>激素</a:t>
            </a:r>
            <a:r>
              <a:rPr lang="zh-CN" altLang="en-US" sz="2800" dirty="0"/>
              <a:t> </a:t>
            </a:r>
            <a:r>
              <a:rPr lang="en-US" altLang="zh-CN" sz="2800" dirty="0"/>
              <a:t>— </a:t>
            </a:r>
            <a:r>
              <a:rPr lang="en-US" altLang="zh-CN" sz="2800" u="sng" dirty="0"/>
              <a:t>insulin</a:t>
            </a:r>
            <a:r>
              <a:rPr lang="en-US" altLang="zh-CN" sz="2800" dirty="0"/>
              <a:t>, glucagon, </a:t>
            </a:r>
            <a:r>
              <a:rPr lang="en-US" altLang="zh-CN" sz="2800" u="sng" dirty="0" err="1"/>
              <a:t>catecholamines</a:t>
            </a:r>
            <a:r>
              <a:rPr lang="en-US" altLang="zh-CN" sz="2800" dirty="0"/>
              <a:t>, thyroid hormone</a:t>
            </a:r>
          </a:p>
          <a:p>
            <a:pPr marL="342900" indent="-342900">
              <a:spcBef>
                <a:spcPct val="20000"/>
              </a:spcBef>
              <a:buClr>
                <a:srgbClr val="FFFF00"/>
              </a:buClr>
              <a:buSzPct val="80000"/>
              <a:buFont typeface="Wingdings" pitchFamily="2" charset="2"/>
              <a:buNone/>
            </a:pPr>
            <a:endParaRPr lang="en-US" altLang="zh-CN" sz="800" dirty="0"/>
          </a:p>
          <a:p>
            <a:pPr marL="342900" indent="-342900">
              <a:spcBef>
                <a:spcPct val="20000"/>
              </a:spcBef>
              <a:buClr>
                <a:srgbClr val="FFFF00"/>
              </a:buClr>
              <a:buSzPct val="80000"/>
              <a:buFont typeface="Wingdings" pitchFamily="2" charset="2"/>
              <a:buNone/>
            </a:pPr>
            <a:r>
              <a:rPr lang="en-US" altLang="zh-CN" sz="2800" dirty="0"/>
              <a:t>2.Serum [K</a:t>
            </a:r>
            <a:r>
              <a:rPr lang="en-US" altLang="zh-CN" sz="2800" b="1" baseline="30000" dirty="0">
                <a:latin typeface="Arial" charset="0"/>
              </a:rPr>
              <a:t>+</a:t>
            </a:r>
            <a:r>
              <a:rPr lang="en-US" altLang="zh-CN" sz="2800" dirty="0"/>
              <a:t>]</a:t>
            </a:r>
          </a:p>
          <a:p>
            <a:pPr marL="342900" indent="-342900">
              <a:spcBef>
                <a:spcPct val="20000"/>
              </a:spcBef>
              <a:buClr>
                <a:srgbClr val="FFFF00"/>
              </a:buClr>
              <a:buSzPct val="80000"/>
              <a:buFont typeface="Wingdings" pitchFamily="2" charset="2"/>
              <a:buNone/>
            </a:pPr>
            <a:endParaRPr lang="en-US" altLang="zh-CN" sz="800" dirty="0"/>
          </a:p>
          <a:p>
            <a:pPr marL="342900" indent="-342900">
              <a:spcBef>
                <a:spcPct val="20000"/>
              </a:spcBef>
              <a:buClr>
                <a:srgbClr val="FFFF00"/>
              </a:buClr>
              <a:buSzPct val="80000"/>
              <a:buFont typeface="Wingdings" pitchFamily="2" charset="2"/>
              <a:buNone/>
            </a:pPr>
            <a:r>
              <a:rPr lang="en-US" altLang="zh-CN" sz="2800" dirty="0"/>
              <a:t>3.</a:t>
            </a:r>
            <a:r>
              <a:rPr lang="zh-CN" altLang="en-US" sz="2800" dirty="0"/>
              <a:t>细胞外液的</a:t>
            </a:r>
            <a:r>
              <a:rPr lang="en-US" altLang="zh-CN" sz="2800" dirty="0"/>
              <a:t>pH</a:t>
            </a:r>
            <a:r>
              <a:rPr lang="zh-CN" altLang="en-US" sz="2800" dirty="0"/>
              <a:t>和血浆渗透压</a:t>
            </a:r>
            <a:endParaRPr lang="en-US" altLang="zh-CN" sz="2800" dirty="0"/>
          </a:p>
          <a:p>
            <a:pPr marL="342900" indent="-342900">
              <a:spcBef>
                <a:spcPct val="20000"/>
              </a:spcBef>
              <a:buClr>
                <a:srgbClr val="FFFF00"/>
              </a:buClr>
              <a:buSzPct val="80000"/>
              <a:buFont typeface="Wingdings" pitchFamily="2" charset="2"/>
              <a:buNone/>
            </a:pPr>
            <a:endParaRPr lang="en-US" altLang="zh-CN" sz="1200" dirty="0"/>
          </a:p>
          <a:p>
            <a:pPr marL="342900" indent="-342900">
              <a:spcBef>
                <a:spcPct val="20000"/>
              </a:spcBef>
              <a:buClr>
                <a:srgbClr val="FFFF00"/>
              </a:buClr>
              <a:buSzPct val="80000"/>
              <a:buFont typeface="Wingdings" pitchFamily="2" charset="2"/>
              <a:buNone/>
            </a:pPr>
            <a:r>
              <a:rPr lang="en-US" altLang="zh-CN" sz="2800" dirty="0"/>
              <a:t>4.Others — rate of cell breakdown, hypoxia, exercise</a:t>
            </a:r>
          </a:p>
          <a:p>
            <a:pPr marL="342900" indent="-342900">
              <a:spcBef>
                <a:spcPct val="20000"/>
              </a:spcBef>
              <a:buClr>
                <a:srgbClr val="FFFF00"/>
              </a:buClr>
              <a:buSzPct val="80000"/>
              <a:buFont typeface="Wingdings" pitchFamily="2" charset="2"/>
              <a:buNone/>
            </a:pPr>
            <a:endParaRPr lang="zh-CN" altLang="en-US" sz="3200" b="1" dirty="0"/>
          </a:p>
        </p:txBody>
      </p:sp>
      <p:pic>
        <p:nvPicPr>
          <p:cNvPr id="12292" name="Picture 5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388" y="1903413"/>
            <a:ext cx="3529012" cy="440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990600" y="642918"/>
            <a:ext cx="7296176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zh-CN" altLang="en-US" sz="45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低钾血症（</a:t>
            </a:r>
            <a:r>
              <a:rPr kumimoji="0" lang="en-US" altLang="zh-CN" sz="45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hypokalemia</a:t>
            </a:r>
            <a:r>
              <a:rPr kumimoji="0" lang="zh-CN" altLang="en-US" sz="45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）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000100" y="1521915"/>
            <a:ext cx="7496204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800" b="1" dirty="0">
                <a:latin typeface="宋体" pitchFamily="2" charset="-122"/>
              </a:rPr>
              <a:t>(</a:t>
            </a:r>
            <a:r>
              <a:rPr lang="zh-CN" altLang="en-US" sz="2800" b="1" dirty="0">
                <a:latin typeface="宋体" pitchFamily="2" charset="-122"/>
              </a:rPr>
              <a:t>血清钾浓度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b="1" dirty="0" smtClean="0">
                <a:latin typeface="宋体" pitchFamily="2" charset="-122"/>
              </a:rPr>
              <a:t>3.5mmol/L,</a:t>
            </a:r>
            <a:r>
              <a:rPr lang="zh-CN" altLang="en-US" sz="2800" b="1" dirty="0" smtClean="0">
                <a:latin typeface="宋体" pitchFamily="2" charset="-122"/>
              </a:rPr>
              <a:t>总钾量可降低或不降低</a:t>
            </a:r>
            <a:r>
              <a:rPr lang="en-US" altLang="zh-CN" sz="2800" b="1" dirty="0" smtClean="0">
                <a:latin typeface="宋体" pitchFamily="2" charset="-122"/>
              </a:rPr>
              <a:t>)</a:t>
            </a:r>
            <a:endParaRPr lang="en-US" altLang="zh-CN" sz="2800" b="1" dirty="0">
              <a:latin typeface="宋体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sz="3200" dirty="0">
              <a:latin typeface="宋体" pitchFamily="2" charset="-122"/>
            </a:endParaRP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1219200" y="2609874"/>
            <a:ext cx="62484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3200" b="1" dirty="0">
                <a:latin typeface="宋体" pitchFamily="2" charset="-122"/>
              </a:rPr>
              <a:t> </a:t>
            </a:r>
            <a:r>
              <a:rPr lang="zh-CN" altLang="en-US" sz="3200" b="1" dirty="0">
                <a:latin typeface="宋体" pitchFamily="2" charset="-122"/>
              </a:rPr>
              <a:t>（一）摄 入↓</a:t>
            </a:r>
          </a:p>
          <a:p>
            <a:pPr algn="just">
              <a:spcBef>
                <a:spcPct val="50000"/>
              </a:spcBef>
            </a:pPr>
            <a:r>
              <a:rPr lang="zh-CN" altLang="en-US" sz="3200" b="1" dirty="0">
                <a:latin typeface="宋体" pitchFamily="2" charset="-122"/>
              </a:rPr>
              <a:t>    </a:t>
            </a:r>
            <a:endParaRPr lang="zh-CN" altLang="en-US" sz="3200" dirty="0">
              <a:latin typeface="宋体" pitchFamily="2" charset="-122"/>
            </a:endParaRPr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1447800" y="3357562"/>
            <a:ext cx="57150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3200" b="1" dirty="0">
                <a:latin typeface="宋体" pitchFamily="2" charset="-122"/>
              </a:rPr>
              <a:t>如禁食</a:t>
            </a:r>
            <a:r>
              <a:rPr lang="en-US" altLang="zh-CN" sz="3200" b="1" dirty="0">
                <a:latin typeface="宋体" pitchFamily="2" charset="-122"/>
              </a:rPr>
              <a:t>+</a:t>
            </a:r>
            <a:r>
              <a:rPr lang="zh-CN" altLang="en-US" sz="3200" b="1" dirty="0">
                <a:latin typeface="宋体" pitchFamily="2" charset="-122"/>
              </a:rPr>
              <a:t>未补或补钾不够</a:t>
            </a:r>
          </a:p>
          <a:p>
            <a:pPr algn="just">
              <a:spcBef>
                <a:spcPct val="50000"/>
              </a:spcBef>
            </a:pPr>
            <a:r>
              <a:rPr lang="zh-CN" altLang="en-US" sz="3200" b="1" dirty="0">
                <a:latin typeface="宋体" pitchFamily="2" charset="-122"/>
              </a:rPr>
              <a:t>   </a:t>
            </a:r>
            <a:endParaRPr lang="zh-CN" altLang="en-US" sz="3200" dirty="0">
              <a:latin typeface="宋体" pitchFamily="2" charset="-122"/>
            </a:endParaRPr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1447800" y="4133874"/>
            <a:ext cx="54864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3200" b="1" dirty="0">
                <a:latin typeface="宋体" pitchFamily="2" charset="-122"/>
              </a:rPr>
              <a:t>（二）排 出↑</a:t>
            </a:r>
            <a:r>
              <a:rPr lang="en-US" altLang="zh-CN" sz="3200" b="1" dirty="0">
                <a:solidFill>
                  <a:srgbClr val="FF3300"/>
                </a:solidFill>
                <a:latin typeface="宋体" pitchFamily="2" charset="-122"/>
              </a:rPr>
              <a:t>(</a:t>
            </a:r>
            <a:r>
              <a:rPr lang="zh-CN" altLang="en-US" sz="3200" b="1" dirty="0">
                <a:solidFill>
                  <a:srgbClr val="FF3300"/>
                </a:solidFill>
                <a:latin typeface="宋体" pitchFamily="2" charset="-122"/>
              </a:rPr>
              <a:t>最主要病因</a:t>
            </a:r>
            <a:r>
              <a:rPr lang="en-US" altLang="zh-CN" sz="3200" b="1" dirty="0">
                <a:solidFill>
                  <a:srgbClr val="FF3300"/>
                </a:solidFill>
                <a:latin typeface="宋体" pitchFamily="2" charset="-122"/>
              </a:rPr>
              <a:t>)</a:t>
            </a:r>
          </a:p>
          <a:p>
            <a:pPr algn="just">
              <a:spcBef>
                <a:spcPct val="50000"/>
              </a:spcBef>
            </a:pPr>
            <a:r>
              <a:rPr lang="en-US" altLang="zh-CN" sz="3200" b="1" dirty="0">
                <a:latin typeface="宋体" pitchFamily="2" charset="-122"/>
              </a:rPr>
              <a:t>    </a:t>
            </a:r>
            <a:endParaRPr lang="en-US" altLang="zh-CN" sz="3200" dirty="0">
              <a:latin typeface="宋体" pitchFamily="2" charset="-122"/>
            </a:endParaRP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1676400" y="4743474"/>
            <a:ext cx="5181600" cy="2043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3200" b="1" dirty="0">
                <a:latin typeface="宋体" pitchFamily="2" charset="-122"/>
              </a:rPr>
              <a:t>1</a:t>
            </a:r>
            <a:r>
              <a:rPr lang="zh-CN" altLang="en-US" sz="3200" b="1" dirty="0">
                <a:latin typeface="宋体" pitchFamily="2" charset="-122"/>
              </a:rPr>
              <a:t>．胃肠道排</a:t>
            </a:r>
            <a:r>
              <a:rPr lang="en-US" altLang="zh-CN" sz="3200" b="1" dirty="0">
                <a:latin typeface="宋体" pitchFamily="2" charset="-122"/>
              </a:rPr>
              <a:t>K</a:t>
            </a:r>
            <a:r>
              <a:rPr lang="en-US" altLang="zh-CN" sz="3200" b="1" baseline="30000" dirty="0">
                <a:latin typeface="宋体" pitchFamily="2" charset="-122"/>
              </a:rPr>
              <a:t>+</a:t>
            </a:r>
            <a:r>
              <a:rPr lang="en-US" altLang="zh-CN" sz="3200" b="1" dirty="0">
                <a:latin typeface="宋体" pitchFamily="2" charset="-122"/>
              </a:rPr>
              <a:t>↑</a:t>
            </a:r>
          </a:p>
          <a:p>
            <a:pPr algn="just">
              <a:spcBef>
                <a:spcPct val="50000"/>
              </a:spcBef>
            </a:pPr>
            <a:r>
              <a:rPr lang="en-US" altLang="zh-CN" sz="3200" b="1" dirty="0">
                <a:latin typeface="宋体" pitchFamily="2" charset="-122"/>
              </a:rPr>
              <a:t>2. </a:t>
            </a:r>
            <a:r>
              <a:rPr lang="zh-CN" altLang="en-US" sz="3200" b="1" dirty="0">
                <a:latin typeface="宋体" pitchFamily="2" charset="-122"/>
              </a:rPr>
              <a:t>经皮肤失钾</a:t>
            </a:r>
          </a:p>
          <a:p>
            <a:pPr algn="just">
              <a:spcBef>
                <a:spcPct val="50000"/>
              </a:spcBef>
            </a:pPr>
            <a:r>
              <a:rPr lang="zh-CN" altLang="en-US" sz="3200" b="1" dirty="0">
                <a:latin typeface="宋体" pitchFamily="2" charset="-122"/>
              </a:rPr>
              <a:t>      </a:t>
            </a:r>
            <a:endParaRPr lang="zh-CN" altLang="en-US" sz="3200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autoUpdateAnimBg="0"/>
      <p:bldP spid="32771" grpId="0" autoUpdateAnimBg="0"/>
      <p:bldP spid="32772" grpId="0" autoUpdateAnimBg="0"/>
      <p:bldP spid="32773" grpId="0" autoUpdateAnimBg="0"/>
      <p:bldP spid="32774" grpId="0" autoUpdateAnimBg="0"/>
      <p:bldP spid="3277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3"/>
          <p:cNvSpPr txBox="1">
            <a:spLocks noChangeArrowheads="1"/>
          </p:cNvSpPr>
          <p:nvPr/>
        </p:nvSpPr>
        <p:spPr bwMode="auto">
          <a:xfrm>
            <a:off x="395536" y="914400"/>
            <a:ext cx="2362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/>
              <a:t>3.  </a:t>
            </a:r>
            <a:r>
              <a:rPr lang="zh-CN" altLang="en-US" sz="3200" b="1" dirty="0"/>
              <a:t>经肾失钾</a:t>
            </a:r>
          </a:p>
        </p:txBody>
      </p:sp>
      <p:pic>
        <p:nvPicPr>
          <p:cNvPr id="14339" name="Picture 4" descr="E:\05\ji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32" y="0"/>
            <a:ext cx="27432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0" name="Text Box 5"/>
          <p:cNvSpPr txBox="1">
            <a:spLocks noChangeArrowheads="1"/>
          </p:cNvSpPr>
          <p:nvPr/>
        </p:nvSpPr>
        <p:spPr bwMode="auto">
          <a:xfrm>
            <a:off x="906941" y="3650890"/>
            <a:ext cx="81624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rgbClr val="CC0099"/>
              </a:buClr>
              <a:buFont typeface="Wingdings" pitchFamily="2" charset="2"/>
              <a:buChar char="q"/>
            </a:pPr>
            <a:r>
              <a:rPr lang="en-US" altLang="zh-CN" sz="3000" dirty="0"/>
              <a:t>   </a:t>
            </a:r>
            <a:endParaRPr lang="zh-CN" altLang="en-US" sz="3000" dirty="0"/>
          </a:p>
        </p:txBody>
      </p:sp>
      <p:sp>
        <p:nvSpPr>
          <p:cNvPr id="14341" name="Text Box 6"/>
          <p:cNvSpPr txBox="1">
            <a:spLocks noChangeArrowheads="1"/>
          </p:cNvSpPr>
          <p:nvPr/>
        </p:nvSpPr>
        <p:spPr bwMode="auto">
          <a:xfrm>
            <a:off x="906941" y="1828800"/>
            <a:ext cx="592502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rgbClr val="CC0099"/>
              </a:buClr>
              <a:buFont typeface="Wingdings" pitchFamily="2" charset="2"/>
              <a:buChar char="q"/>
            </a:pPr>
            <a:r>
              <a:rPr lang="en-US" altLang="zh-CN" sz="3000" dirty="0"/>
              <a:t>  </a:t>
            </a:r>
            <a:r>
              <a:rPr lang="zh-CN" altLang="en-US" sz="3000" dirty="0" smtClean="0"/>
              <a:t>多尿：排</a:t>
            </a:r>
            <a:r>
              <a:rPr lang="zh-CN" altLang="en-US" sz="3000" dirty="0"/>
              <a:t>钾</a:t>
            </a:r>
            <a:r>
              <a:rPr lang="zh-CN" altLang="en-US" sz="3000" dirty="0" smtClean="0"/>
              <a:t>利尿剂</a:t>
            </a:r>
            <a:r>
              <a:rPr lang="en-US" altLang="zh-CN" sz="3000" dirty="0" smtClean="0"/>
              <a:t>/</a:t>
            </a:r>
            <a:r>
              <a:rPr lang="zh-CN" altLang="en-US" sz="3000" dirty="0" smtClean="0"/>
              <a:t>肾疾患导致</a:t>
            </a:r>
            <a:r>
              <a:rPr lang="en-US" altLang="zh-CN" sz="3000" dirty="0" smtClean="0"/>
              <a:t> </a:t>
            </a:r>
          </a:p>
          <a:p>
            <a:pPr>
              <a:buClr>
                <a:srgbClr val="CC0099"/>
              </a:buClr>
            </a:pPr>
            <a:r>
              <a:rPr lang="en-US" altLang="zh-CN" sz="3000" dirty="0" smtClean="0"/>
              <a:t>                  </a:t>
            </a:r>
            <a:r>
              <a:rPr lang="zh-CN" altLang="en-US" sz="3000" dirty="0" smtClean="0"/>
              <a:t>多尿，远</a:t>
            </a:r>
            <a:r>
              <a:rPr lang="zh-CN" altLang="en-US" sz="3000" dirty="0"/>
              <a:t>端流速增加</a:t>
            </a:r>
          </a:p>
        </p:txBody>
      </p:sp>
      <p:sp>
        <p:nvSpPr>
          <p:cNvPr id="14342" name="Text Box 7"/>
          <p:cNvSpPr txBox="1">
            <a:spLocks noChangeArrowheads="1"/>
          </p:cNvSpPr>
          <p:nvPr/>
        </p:nvSpPr>
        <p:spPr bwMode="auto">
          <a:xfrm>
            <a:off x="906941" y="2965090"/>
            <a:ext cx="291099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rgbClr val="CC0099"/>
              </a:buClr>
              <a:buFont typeface="Wingdings" pitchFamily="2" charset="2"/>
              <a:buChar char="q"/>
            </a:pPr>
            <a:r>
              <a:rPr lang="en-US" altLang="zh-CN" sz="3000" dirty="0"/>
              <a:t>  </a:t>
            </a:r>
            <a:r>
              <a:rPr lang="en-US" altLang="zh-CN" sz="3000" dirty="0" err="1" smtClean="0"/>
              <a:t>Ald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分泌过多</a:t>
            </a:r>
            <a:endParaRPr lang="zh-CN" altLang="en-US" sz="3000" dirty="0"/>
          </a:p>
        </p:txBody>
      </p:sp>
      <p:sp>
        <p:nvSpPr>
          <p:cNvPr id="14343" name="Text Box 8"/>
          <p:cNvSpPr txBox="1">
            <a:spLocks noChangeArrowheads="1"/>
          </p:cNvSpPr>
          <p:nvPr/>
        </p:nvSpPr>
        <p:spPr bwMode="auto">
          <a:xfrm>
            <a:off x="906941" y="4336690"/>
            <a:ext cx="148951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rgbClr val="CC0099"/>
              </a:buClr>
              <a:buFont typeface="Wingdings" pitchFamily="2" charset="2"/>
              <a:buChar char="q"/>
            </a:pPr>
            <a:r>
              <a:rPr lang="en-US" altLang="zh-CN" sz="3000" dirty="0"/>
              <a:t>  </a:t>
            </a:r>
            <a:r>
              <a:rPr lang="zh-CN" altLang="en-US" sz="3000" dirty="0"/>
              <a:t>低镁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899592" y="5035242"/>
            <a:ext cx="1874231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rgbClr val="CC0099"/>
              </a:buClr>
              <a:buFont typeface="Wingdings" pitchFamily="2" charset="2"/>
              <a:buChar char="q"/>
            </a:pPr>
            <a:r>
              <a:rPr lang="en-US" altLang="zh-CN" sz="3000" dirty="0"/>
              <a:t>  </a:t>
            </a:r>
            <a:r>
              <a:rPr lang="zh-CN" altLang="en-US" sz="3000" dirty="0"/>
              <a:t>碱中毒</a:t>
            </a:r>
          </a:p>
        </p:txBody>
      </p:sp>
      <p:sp>
        <p:nvSpPr>
          <p:cNvPr id="9" name="矩形 8"/>
          <p:cNvSpPr/>
          <p:nvPr/>
        </p:nvSpPr>
        <p:spPr>
          <a:xfrm>
            <a:off x="1403648" y="3645024"/>
            <a:ext cx="298348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000" dirty="0" smtClean="0">
                <a:solidFill>
                  <a:prstClr val="black"/>
                </a:solidFill>
              </a:rPr>
              <a:t>肾小管性酸中毒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990600" y="457200"/>
            <a:ext cx="65532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3200" b="1" dirty="0">
                <a:latin typeface="宋体" pitchFamily="2" charset="-122"/>
              </a:rPr>
              <a:t>（三）钾从细胞外转移到细胞内</a:t>
            </a:r>
            <a:endParaRPr lang="zh-CN" altLang="en-US" sz="3200" b="1" dirty="0">
              <a:solidFill>
                <a:srgbClr val="FF3300"/>
              </a:solidFill>
              <a:latin typeface="宋体" pitchFamily="2" charset="-122"/>
            </a:endParaRPr>
          </a:p>
          <a:p>
            <a:pPr algn="just">
              <a:spcBef>
                <a:spcPct val="50000"/>
              </a:spcBef>
            </a:pPr>
            <a:r>
              <a:rPr lang="zh-CN" altLang="en-US" sz="3200" b="1" dirty="0">
                <a:latin typeface="宋体" pitchFamily="2" charset="-122"/>
              </a:rPr>
              <a:t>    </a:t>
            </a:r>
            <a:endParaRPr lang="zh-CN" altLang="en-US" sz="3200" dirty="0">
              <a:latin typeface="宋体" pitchFamily="2" charset="-122"/>
            </a:endParaRPr>
          </a:p>
        </p:txBody>
      </p:sp>
      <p:sp>
        <p:nvSpPr>
          <p:cNvPr id="15363" name="Oval 5"/>
          <p:cNvSpPr>
            <a:spLocks noChangeArrowheads="1"/>
          </p:cNvSpPr>
          <p:nvPr/>
        </p:nvSpPr>
        <p:spPr bwMode="auto">
          <a:xfrm>
            <a:off x="2895600" y="2276475"/>
            <a:ext cx="3200400" cy="3200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4" name="AutoShape 6"/>
          <p:cNvSpPr>
            <a:spLocks noChangeArrowheads="1"/>
          </p:cNvSpPr>
          <p:nvPr/>
        </p:nvSpPr>
        <p:spPr bwMode="auto">
          <a:xfrm>
            <a:off x="2209800" y="3876675"/>
            <a:ext cx="1524000" cy="3810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5" name="Text Box 7"/>
          <p:cNvSpPr txBox="1">
            <a:spLocks noChangeArrowheads="1"/>
          </p:cNvSpPr>
          <p:nvPr/>
        </p:nvSpPr>
        <p:spPr bwMode="auto">
          <a:xfrm>
            <a:off x="3733800" y="3800475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/>
              <a:t>2K</a:t>
            </a:r>
            <a:r>
              <a:rPr lang="en-US" altLang="zh-CN" baseline="30000"/>
              <a:t>+</a:t>
            </a:r>
          </a:p>
        </p:txBody>
      </p:sp>
      <p:sp>
        <p:nvSpPr>
          <p:cNvPr id="15366" name="AutoShape 8"/>
          <p:cNvSpPr>
            <a:spLocks noChangeArrowheads="1"/>
          </p:cNvSpPr>
          <p:nvPr/>
        </p:nvSpPr>
        <p:spPr bwMode="auto">
          <a:xfrm>
            <a:off x="1981200" y="3267075"/>
            <a:ext cx="1676400" cy="381000"/>
          </a:xfrm>
          <a:prstGeom prst="leftArrow">
            <a:avLst>
              <a:gd name="adj1" fmla="val 50000"/>
              <a:gd name="adj2" fmla="val 110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7" name="Text Box 9"/>
          <p:cNvSpPr txBox="1">
            <a:spLocks noChangeArrowheads="1"/>
          </p:cNvSpPr>
          <p:nvPr/>
        </p:nvSpPr>
        <p:spPr bwMode="auto">
          <a:xfrm>
            <a:off x="1295400" y="3190875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/>
              <a:t>3Na</a:t>
            </a:r>
            <a:r>
              <a:rPr lang="en-US" altLang="zh-CN" baseline="30000"/>
              <a:t>+</a:t>
            </a:r>
            <a:endParaRPr lang="en-US" altLang="zh-CN"/>
          </a:p>
        </p:txBody>
      </p:sp>
      <p:sp>
        <p:nvSpPr>
          <p:cNvPr id="15369" name="Text Box 11"/>
          <p:cNvSpPr txBox="1">
            <a:spLocks noChangeArrowheads="1"/>
          </p:cNvSpPr>
          <p:nvPr/>
        </p:nvSpPr>
        <p:spPr bwMode="auto">
          <a:xfrm>
            <a:off x="6248400" y="2276475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/>
              <a:t>H</a:t>
            </a:r>
            <a:r>
              <a:rPr lang="en-US" altLang="zh-CN" baseline="30000"/>
              <a:t>+</a:t>
            </a:r>
          </a:p>
        </p:txBody>
      </p:sp>
      <p:sp>
        <p:nvSpPr>
          <p:cNvPr id="15370" name="AutoShape 12"/>
          <p:cNvSpPr>
            <a:spLocks noChangeArrowheads="1"/>
          </p:cNvSpPr>
          <p:nvPr/>
        </p:nvSpPr>
        <p:spPr bwMode="auto">
          <a:xfrm rot="-1483060">
            <a:off x="4648200" y="2733675"/>
            <a:ext cx="1828800" cy="304800"/>
          </a:xfrm>
          <a:prstGeom prst="rightArrow">
            <a:avLst>
              <a:gd name="adj1" fmla="val 50000"/>
              <a:gd name="adj2" fmla="val 150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71" name="AutoShape 13"/>
          <p:cNvSpPr>
            <a:spLocks noChangeArrowheads="1"/>
          </p:cNvSpPr>
          <p:nvPr/>
        </p:nvSpPr>
        <p:spPr bwMode="auto">
          <a:xfrm rot="-1239594">
            <a:off x="5094288" y="3213100"/>
            <a:ext cx="1524000" cy="304800"/>
          </a:xfrm>
          <a:prstGeom prst="leftArrow">
            <a:avLst>
              <a:gd name="adj1" fmla="val 50000"/>
              <a:gd name="adj2" fmla="val 12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372" name="Text Box 14"/>
          <p:cNvSpPr txBox="1">
            <a:spLocks noChangeArrowheads="1"/>
          </p:cNvSpPr>
          <p:nvPr/>
        </p:nvSpPr>
        <p:spPr bwMode="auto">
          <a:xfrm>
            <a:off x="4724400" y="3419475"/>
            <a:ext cx="99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/>
              <a:t>K</a:t>
            </a:r>
            <a:r>
              <a:rPr lang="en-US" altLang="zh-CN" baseline="30000"/>
              <a:t>+</a:t>
            </a:r>
          </a:p>
        </p:txBody>
      </p:sp>
      <p:sp>
        <p:nvSpPr>
          <p:cNvPr id="15373" name="Text Box 15"/>
          <p:cNvSpPr txBox="1">
            <a:spLocks noChangeArrowheads="1"/>
          </p:cNvSpPr>
          <p:nvPr/>
        </p:nvSpPr>
        <p:spPr bwMode="auto">
          <a:xfrm>
            <a:off x="5105400" y="3952875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/>
              <a:t>K</a:t>
            </a:r>
            <a:r>
              <a:rPr lang="zh-CN" altLang="en-US"/>
              <a:t>通道</a:t>
            </a:r>
          </a:p>
        </p:txBody>
      </p:sp>
      <p:sp>
        <p:nvSpPr>
          <p:cNvPr id="15374" name="AutoShape 16"/>
          <p:cNvSpPr>
            <a:spLocks noChangeArrowheads="1"/>
          </p:cNvSpPr>
          <p:nvPr/>
        </p:nvSpPr>
        <p:spPr bwMode="auto">
          <a:xfrm rot="-2621149">
            <a:off x="2514600" y="4943475"/>
            <a:ext cx="1447800" cy="228600"/>
          </a:xfrm>
          <a:prstGeom prst="rightArrow">
            <a:avLst>
              <a:gd name="adj1" fmla="val 50000"/>
              <a:gd name="adj2" fmla="val 158333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75" name="Text Box 17"/>
          <p:cNvSpPr txBox="1">
            <a:spLocks noChangeArrowheads="1"/>
          </p:cNvSpPr>
          <p:nvPr/>
        </p:nvSpPr>
        <p:spPr bwMode="auto">
          <a:xfrm>
            <a:off x="3505200" y="4257675"/>
            <a:ext cx="99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/>
              <a:t>糖原</a:t>
            </a:r>
          </a:p>
        </p:txBody>
      </p:sp>
      <p:sp>
        <p:nvSpPr>
          <p:cNvPr id="15376" name="AutoShape 18"/>
          <p:cNvSpPr>
            <a:spLocks noChangeArrowheads="1"/>
          </p:cNvSpPr>
          <p:nvPr/>
        </p:nvSpPr>
        <p:spPr bwMode="auto">
          <a:xfrm rot="-7422324">
            <a:off x="4724400" y="5248275"/>
            <a:ext cx="1295400" cy="228600"/>
          </a:xfrm>
          <a:prstGeom prst="rightArrow">
            <a:avLst>
              <a:gd name="adj1" fmla="val 50000"/>
              <a:gd name="adj2" fmla="val 141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377" name="Text Box 19"/>
          <p:cNvSpPr txBox="1">
            <a:spLocks noChangeArrowheads="1"/>
          </p:cNvSpPr>
          <p:nvPr/>
        </p:nvSpPr>
        <p:spPr bwMode="auto">
          <a:xfrm>
            <a:off x="990600" y="1905000"/>
            <a:ext cx="2743200" cy="100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b="1">
                <a:ea typeface="方正报宋简体" pitchFamily="2" charset="-122"/>
              </a:rPr>
              <a:t>胰岛素、肾上腺素</a:t>
            </a:r>
          </a:p>
          <a:p>
            <a:pPr algn="just">
              <a:spcBef>
                <a:spcPct val="50000"/>
              </a:spcBef>
            </a:pPr>
            <a:r>
              <a:rPr lang="zh-CN" altLang="en-US" b="1">
                <a:ea typeface="方正报宋简体" pitchFamily="2" charset="-122"/>
              </a:rPr>
              <a:t>                  </a:t>
            </a:r>
          </a:p>
        </p:txBody>
      </p:sp>
      <p:sp>
        <p:nvSpPr>
          <p:cNvPr id="15378" name="AutoShape 20"/>
          <p:cNvSpPr>
            <a:spLocks noChangeArrowheads="1"/>
          </p:cNvSpPr>
          <p:nvPr/>
        </p:nvSpPr>
        <p:spPr bwMode="auto">
          <a:xfrm>
            <a:off x="2667000" y="2581275"/>
            <a:ext cx="304800" cy="762000"/>
          </a:xfrm>
          <a:prstGeom prst="downArrow">
            <a:avLst>
              <a:gd name="adj1" fmla="val 50000"/>
              <a:gd name="adj2" fmla="val 6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79" name="Text Box 21"/>
          <p:cNvSpPr txBox="1">
            <a:spLocks noChangeArrowheads="1"/>
          </p:cNvSpPr>
          <p:nvPr/>
        </p:nvSpPr>
        <p:spPr bwMode="auto">
          <a:xfrm>
            <a:off x="6934200" y="2047875"/>
            <a:ext cx="137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b="1">
                <a:ea typeface="黑体" pitchFamily="2" charset="-122"/>
              </a:rPr>
              <a:t>碱中毒</a:t>
            </a:r>
          </a:p>
        </p:txBody>
      </p:sp>
      <p:sp>
        <p:nvSpPr>
          <p:cNvPr id="15380" name="Text Box 22"/>
          <p:cNvSpPr txBox="1">
            <a:spLocks noChangeArrowheads="1"/>
          </p:cNvSpPr>
          <p:nvPr/>
        </p:nvSpPr>
        <p:spPr bwMode="auto">
          <a:xfrm>
            <a:off x="5691198" y="5819795"/>
            <a:ext cx="3810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b="1" dirty="0"/>
              <a:t>K</a:t>
            </a:r>
          </a:p>
        </p:txBody>
      </p:sp>
      <p:sp>
        <p:nvSpPr>
          <p:cNvPr id="15381" name="Text Box 23"/>
          <p:cNvSpPr txBox="1">
            <a:spLocks noChangeArrowheads="1"/>
          </p:cNvSpPr>
          <p:nvPr/>
        </p:nvSpPr>
        <p:spPr bwMode="auto">
          <a:xfrm>
            <a:off x="2438400" y="5534043"/>
            <a:ext cx="3810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b="1"/>
              <a:t>K</a:t>
            </a:r>
          </a:p>
        </p:txBody>
      </p:sp>
      <p:sp>
        <p:nvSpPr>
          <p:cNvPr id="15382" name="Rectangle 24"/>
          <p:cNvSpPr>
            <a:spLocks noChangeArrowheads="1"/>
          </p:cNvSpPr>
          <p:nvPr/>
        </p:nvSpPr>
        <p:spPr bwMode="auto">
          <a:xfrm>
            <a:off x="4953000" y="4333875"/>
            <a:ext cx="1066800" cy="76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383" name="Rectangle 25"/>
          <p:cNvSpPr>
            <a:spLocks noChangeArrowheads="1"/>
          </p:cNvSpPr>
          <p:nvPr/>
        </p:nvSpPr>
        <p:spPr bwMode="auto">
          <a:xfrm>
            <a:off x="5105400" y="3952875"/>
            <a:ext cx="990600" cy="76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384" name="Rectangle 26"/>
          <p:cNvSpPr>
            <a:spLocks noChangeArrowheads="1"/>
          </p:cNvSpPr>
          <p:nvPr/>
        </p:nvSpPr>
        <p:spPr bwMode="auto">
          <a:xfrm>
            <a:off x="5105400" y="4105275"/>
            <a:ext cx="76200" cy="2286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385" name="Text Box 27"/>
          <p:cNvSpPr txBox="1">
            <a:spLocks noChangeArrowheads="1"/>
          </p:cNvSpPr>
          <p:nvPr/>
        </p:nvSpPr>
        <p:spPr bwMode="auto">
          <a:xfrm>
            <a:off x="4419600" y="4410075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/>
              <a:t>蛋白</a:t>
            </a:r>
          </a:p>
        </p:txBody>
      </p:sp>
      <p:sp>
        <p:nvSpPr>
          <p:cNvPr id="15386" name="Oval 28"/>
          <p:cNvSpPr>
            <a:spLocks noChangeArrowheads="1"/>
          </p:cNvSpPr>
          <p:nvPr/>
        </p:nvSpPr>
        <p:spPr bwMode="auto">
          <a:xfrm>
            <a:off x="5715000" y="2886075"/>
            <a:ext cx="2286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87" name="Text Box 29"/>
          <p:cNvSpPr txBox="1">
            <a:spLocks noChangeArrowheads="1"/>
          </p:cNvSpPr>
          <p:nvPr/>
        </p:nvSpPr>
        <p:spPr bwMode="auto">
          <a:xfrm>
            <a:off x="6597650" y="3983038"/>
            <a:ext cx="79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/>
              <a:t>毒物</a:t>
            </a:r>
          </a:p>
        </p:txBody>
      </p:sp>
      <p:sp>
        <p:nvSpPr>
          <p:cNvPr id="15388" name="AutoShape 30"/>
          <p:cNvSpPr>
            <a:spLocks noChangeArrowheads="1"/>
          </p:cNvSpPr>
          <p:nvPr/>
        </p:nvSpPr>
        <p:spPr bwMode="auto">
          <a:xfrm>
            <a:off x="6096000" y="4114800"/>
            <a:ext cx="381000" cy="228600"/>
          </a:xfrm>
          <a:prstGeom prst="left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2500298" y="3548430"/>
            <a:ext cx="928694" cy="4286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2443284" y="3495675"/>
            <a:ext cx="13716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dirty="0">
                <a:solidFill>
                  <a:srgbClr val="FFFF00"/>
                </a:solidFill>
              </a:rPr>
              <a:t>ATP</a:t>
            </a:r>
            <a:r>
              <a:rPr lang="zh-CN" altLang="en-US" dirty="0">
                <a:solidFill>
                  <a:srgbClr val="FFFF00"/>
                </a:solidFill>
              </a:rPr>
              <a:t>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2"/>
          <p:cNvSpPr txBox="1">
            <a:spLocks noChangeArrowheads="1"/>
          </p:cNvSpPr>
          <p:nvPr/>
        </p:nvSpPr>
        <p:spPr bwMode="auto">
          <a:xfrm>
            <a:off x="468313" y="1484313"/>
            <a:ext cx="8099425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latin typeface="宋体" pitchFamily="2" charset="-122"/>
              </a:rPr>
              <a:t>    42</a:t>
            </a:r>
            <a:r>
              <a:rPr lang="zh-CN" altLang="en-US" sz="3200" dirty="0">
                <a:latin typeface="宋体" pitchFamily="2" charset="-122"/>
              </a:rPr>
              <a:t>岁女性患者急诊入院，主要症状：进食减少，恶心，频繁呕吐</a:t>
            </a:r>
            <a:r>
              <a:rPr lang="en-US" altLang="zh-CN" sz="3200" dirty="0">
                <a:latin typeface="宋体" pitchFamily="2" charset="-122"/>
              </a:rPr>
              <a:t>20</a:t>
            </a:r>
            <a:r>
              <a:rPr lang="zh-CN" altLang="en-US" sz="3200" dirty="0">
                <a:latin typeface="宋体" pitchFamily="2" charset="-122"/>
              </a:rPr>
              <a:t>天。既往史：</a:t>
            </a:r>
            <a:r>
              <a:rPr lang="en-US" altLang="zh-CN" sz="3200" dirty="0">
                <a:latin typeface="宋体" pitchFamily="2" charset="-122"/>
              </a:rPr>
              <a:t>3</a:t>
            </a:r>
            <a:r>
              <a:rPr lang="zh-CN" altLang="en-US" sz="3200" dirty="0">
                <a:latin typeface="宋体" pitchFamily="2" charset="-122"/>
              </a:rPr>
              <a:t>年前被确诊为糖尿病。</a:t>
            </a:r>
          </a:p>
          <a:p>
            <a:pPr>
              <a:spcBef>
                <a:spcPct val="50000"/>
              </a:spcBef>
            </a:pPr>
            <a:r>
              <a:rPr lang="zh-CN" altLang="en-US" sz="3200" dirty="0" smtClean="0">
                <a:latin typeface="宋体" pitchFamily="2" charset="-122"/>
              </a:rPr>
              <a:t>    诊断</a:t>
            </a:r>
            <a:r>
              <a:rPr lang="zh-CN" altLang="en-US" sz="3200" dirty="0">
                <a:latin typeface="宋体" pitchFamily="2" charset="-122"/>
              </a:rPr>
              <a:t>：糖尿病酮症酸中毒。用胰岛素治疗，酮症酸中毒得到缓解。同时发现存在尿路感染和严重的低钾血症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</a:t>
            </a:r>
            <a:r>
              <a:rPr lang="en-US" altLang="zh-CN" sz="3200" dirty="0">
                <a:latin typeface="宋体" pitchFamily="2" charset="-122"/>
              </a:rPr>
              <a:t>(</a:t>
            </a:r>
            <a:r>
              <a:rPr lang="zh-CN" altLang="en-US" sz="3200" dirty="0" smtClean="0">
                <a:latin typeface="宋体" pitchFamily="2" charset="-122"/>
              </a:rPr>
              <a:t>血</a:t>
            </a:r>
            <a:r>
              <a:rPr lang="en-US" altLang="zh-CN" sz="3200" dirty="0" smtClean="0">
                <a:latin typeface="宋体" pitchFamily="2" charset="-122"/>
              </a:rPr>
              <a:t>[</a:t>
            </a:r>
            <a:r>
              <a:rPr lang="en-US" altLang="zh-CN" sz="3200" dirty="0">
                <a:latin typeface="宋体" pitchFamily="2" charset="-122"/>
              </a:rPr>
              <a:t>K</a:t>
            </a:r>
            <a:r>
              <a:rPr lang="en-US" altLang="zh-CN" sz="3200" baseline="30000" dirty="0" smtClean="0">
                <a:latin typeface="宋体" pitchFamily="2" charset="-122"/>
              </a:rPr>
              <a:t>+</a:t>
            </a:r>
            <a:r>
              <a:rPr lang="en-US" altLang="zh-CN" sz="3200" dirty="0" smtClean="0">
                <a:latin typeface="宋体" pitchFamily="2" charset="-122"/>
              </a:rPr>
              <a:t>]</a:t>
            </a:r>
            <a:r>
              <a:rPr lang="en-US" altLang="zh-CN" sz="3200" dirty="0">
                <a:latin typeface="宋体" pitchFamily="2" charset="-122"/>
              </a:rPr>
              <a:t>:</a:t>
            </a:r>
            <a:r>
              <a:rPr lang="en-US" altLang="zh-CN" sz="3200" dirty="0" smtClean="0">
                <a:latin typeface="宋体" pitchFamily="2" charset="-122"/>
              </a:rPr>
              <a:t>2mmol/L</a:t>
            </a:r>
            <a:r>
              <a:rPr lang="en-US" altLang="zh-CN" sz="3200" dirty="0">
                <a:latin typeface="宋体" pitchFamily="2" charset="-122"/>
              </a:rPr>
              <a:t>). </a:t>
            </a:r>
            <a:r>
              <a:rPr lang="zh-CN" altLang="en-US" sz="3200" dirty="0">
                <a:latin typeface="宋体" pitchFamily="2" charset="-122"/>
              </a:rPr>
              <a:t>因此给予大剂量的庆大霉素治疗</a:t>
            </a:r>
            <a:r>
              <a:rPr lang="en-US" altLang="zh-CN" sz="3200" dirty="0">
                <a:latin typeface="宋体" pitchFamily="2" charset="-122"/>
              </a:rPr>
              <a:t>33</a:t>
            </a:r>
            <a:r>
              <a:rPr lang="zh-CN" altLang="en-US" sz="3200" dirty="0">
                <a:latin typeface="宋体" pitchFamily="2" charset="-122"/>
              </a:rPr>
              <a:t>天，同时口服和静脉大剂量补钾</a:t>
            </a:r>
            <a:r>
              <a:rPr lang="en-US" altLang="zh-CN" sz="3200" dirty="0">
                <a:latin typeface="宋体" pitchFamily="2" charset="-122"/>
              </a:rPr>
              <a:t>41</a:t>
            </a:r>
            <a:r>
              <a:rPr lang="zh-CN" altLang="en-US" sz="3200" dirty="0">
                <a:latin typeface="宋体" pitchFamily="2" charset="-122"/>
              </a:rPr>
              <a:t>天。然而，低钾血症持续存在</a:t>
            </a:r>
            <a:r>
              <a:rPr lang="en-US" altLang="zh-CN" sz="3200" dirty="0">
                <a:latin typeface="宋体" pitchFamily="2" charset="-122"/>
              </a:rPr>
              <a:t> (2.55mmol/L). </a:t>
            </a:r>
            <a:endParaRPr lang="en-US" altLang="zh-CN" sz="3200" baseline="-25000" dirty="0">
              <a:latin typeface="宋体" pitchFamily="2" charset="-122"/>
            </a:endParaRPr>
          </a:p>
        </p:txBody>
      </p:sp>
      <p:sp>
        <p:nvSpPr>
          <p:cNvPr id="112643" name="Text Box 3"/>
          <p:cNvSpPr txBox="1">
            <a:spLocks noChangeArrowheads="1"/>
          </p:cNvSpPr>
          <p:nvPr/>
        </p:nvSpPr>
        <p:spPr bwMode="auto">
          <a:xfrm>
            <a:off x="2843213" y="423863"/>
            <a:ext cx="34575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000" b="1" dirty="0"/>
              <a:t>Case Report </a:t>
            </a:r>
            <a:r>
              <a:rPr lang="en-US" altLang="zh-CN" sz="40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ext Box 2"/>
          <p:cNvSpPr txBox="1">
            <a:spLocks noChangeArrowheads="1"/>
          </p:cNvSpPr>
          <p:nvPr/>
        </p:nvSpPr>
        <p:spPr bwMode="auto">
          <a:xfrm>
            <a:off x="971550" y="1125538"/>
            <a:ext cx="6769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/>
          </a:p>
        </p:txBody>
      </p:sp>
      <p:sp>
        <p:nvSpPr>
          <p:cNvPr id="113667" name="Text Box 3"/>
          <p:cNvSpPr txBox="1">
            <a:spLocks noChangeArrowheads="1"/>
          </p:cNvSpPr>
          <p:nvPr/>
        </p:nvSpPr>
        <p:spPr bwMode="auto">
          <a:xfrm>
            <a:off x="611188" y="788988"/>
            <a:ext cx="7993062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/>
              <a:t>   </a:t>
            </a:r>
            <a:r>
              <a:rPr lang="en-US" altLang="zh-CN" sz="3200" b="1" dirty="0" smtClean="0"/>
              <a:t>     </a:t>
            </a:r>
            <a:r>
              <a:rPr lang="zh-CN" altLang="en-US" sz="3200" dirty="0" smtClean="0"/>
              <a:t>使</a:t>
            </a:r>
            <a:r>
              <a:rPr lang="zh-CN" altLang="en-US" sz="3200" dirty="0"/>
              <a:t>医生感到惊奇的是，病人突然出现四肢痉挛性僵直。直到此时，医生才检测了血镁，只有</a:t>
            </a:r>
            <a:r>
              <a:rPr lang="en-US" altLang="zh-CN" sz="3200" dirty="0"/>
              <a:t>0.2mmol/L!( </a:t>
            </a:r>
            <a:r>
              <a:rPr lang="zh-CN" altLang="en-US" sz="3200" dirty="0"/>
              <a:t>正常血</a:t>
            </a:r>
            <a:r>
              <a:rPr lang="en-US" altLang="zh-CN" sz="3200" dirty="0"/>
              <a:t>[Mg</a:t>
            </a:r>
            <a:r>
              <a:rPr lang="en-US" altLang="zh-CN" sz="3200" baseline="30000" dirty="0"/>
              <a:t>2</a:t>
            </a:r>
            <a:r>
              <a:rPr lang="en-US" altLang="zh-CN" sz="3200" baseline="30000" dirty="0">
                <a:latin typeface="Arial" pitchFamily="34" charset="0"/>
              </a:rPr>
              <a:t>+</a:t>
            </a:r>
            <a:r>
              <a:rPr lang="en-US" altLang="zh-CN" sz="3200" dirty="0"/>
              <a:t>] </a:t>
            </a:r>
            <a:r>
              <a:rPr lang="zh-CN" altLang="en-US" sz="3200" dirty="0"/>
              <a:t>：</a:t>
            </a:r>
            <a:r>
              <a:rPr lang="en-US" altLang="zh-CN" sz="3200" dirty="0"/>
              <a:t>1.5</a:t>
            </a:r>
            <a:r>
              <a:rPr lang="en-US" altLang="zh-CN" sz="3200" dirty="0" smtClean="0"/>
              <a:t>~ 2.5mmol/L) </a:t>
            </a:r>
            <a:r>
              <a:rPr lang="zh-CN" altLang="en-US" sz="3200" dirty="0"/>
              <a:t>立刻静脉输注</a:t>
            </a:r>
            <a:r>
              <a:rPr lang="en-US" altLang="zh-CN" sz="3200" dirty="0"/>
              <a:t>MgSO</a:t>
            </a:r>
            <a:r>
              <a:rPr lang="en-US" altLang="zh-CN" sz="3200" baseline="-25000" dirty="0"/>
              <a:t>4 </a:t>
            </a:r>
            <a:r>
              <a:rPr lang="zh-CN" altLang="en-US" sz="3200" baseline="-25000" dirty="0"/>
              <a:t>。</a:t>
            </a:r>
            <a:r>
              <a:rPr lang="zh-CN" altLang="en-US" sz="3200" dirty="0"/>
              <a:t>几天后，症状完全消失，虽然补钾的量减少，血钾在</a:t>
            </a:r>
            <a:r>
              <a:rPr lang="en-US" altLang="zh-CN" sz="3200" dirty="0"/>
              <a:t>3</a:t>
            </a:r>
            <a:r>
              <a:rPr lang="zh-CN" altLang="en-US" sz="3200" dirty="0"/>
              <a:t>天内就恢复了正常。血镁也恢复正常。</a:t>
            </a:r>
            <a:r>
              <a:rPr lang="en-US" altLang="zh-CN" sz="3200" dirty="0"/>
              <a:t>(</a:t>
            </a:r>
            <a:r>
              <a:rPr lang="zh-CN" altLang="zh-CN" sz="3200" dirty="0"/>
              <a:t>《</a:t>
            </a:r>
            <a:r>
              <a:rPr lang="zh-CN" altLang="en-US" sz="3200" dirty="0"/>
              <a:t>中华内科杂志</a:t>
            </a:r>
            <a:r>
              <a:rPr lang="zh-CN" altLang="zh-CN" sz="3200" dirty="0"/>
              <a:t>》</a:t>
            </a:r>
            <a:r>
              <a:rPr lang="en-US" altLang="zh-CN" sz="3200" dirty="0"/>
              <a:t>1980</a:t>
            </a:r>
            <a:r>
              <a:rPr lang="zh-CN" altLang="en-US" sz="3200" dirty="0"/>
              <a:t>年</a:t>
            </a:r>
            <a:r>
              <a:rPr lang="en-US" altLang="zh-CN" sz="3200" dirty="0"/>
              <a:t>1</a:t>
            </a:r>
            <a:r>
              <a:rPr lang="zh-CN" altLang="en-US" sz="3200" dirty="0"/>
              <a:t>月</a:t>
            </a:r>
            <a:r>
              <a:rPr lang="en-US" altLang="zh-CN" sz="320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9" name="Rectangle 5"/>
          <p:cNvSpPr>
            <a:spLocks noChangeArrowheads="1"/>
          </p:cNvSpPr>
          <p:nvPr/>
        </p:nvSpPr>
        <p:spPr bwMode="auto">
          <a:xfrm>
            <a:off x="611188" y="714356"/>
            <a:ext cx="8532812" cy="3200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b="1" i="1" u="sng" dirty="0" smtClean="0"/>
              <a:t>问</a:t>
            </a:r>
            <a:r>
              <a:rPr lang="en-US" altLang="zh-CN" sz="4000" b="1" i="1" u="sng" dirty="0" smtClean="0"/>
              <a:t>:</a:t>
            </a:r>
            <a:r>
              <a:rPr lang="en-US" altLang="zh-CN" sz="3600" b="1" i="1" u="sng" dirty="0" smtClean="0"/>
              <a:t>  </a:t>
            </a:r>
            <a:endParaRPr lang="en-US" altLang="zh-CN" sz="3600" b="1" i="1" u="sng" dirty="0"/>
          </a:p>
          <a:p>
            <a:pPr>
              <a:spcBef>
                <a:spcPct val="50000"/>
              </a:spcBef>
            </a:pPr>
            <a:endParaRPr lang="en-US" altLang="zh-CN" sz="3600" b="1" i="1" u="sng" dirty="0">
              <a:solidFill>
                <a:srgbClr val="FF9999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3600" b="1" i="1" dirty="0"/>
              <a:t>1. </a:t>
            </a:r>
            <a:r>
              <a:rPr lang="zh-CN" altLang="en-US" sz="3600" b="1" i="1" dirty="0" smtClean="0"/>
              <a:t>低钾和低镁的原因是什么？</a:t>
            </a:r>
            <a:endParaRPr lang="en-US" altLang="zh-CN" sz="3600" b="1" i="1" dirty="0"/>
          </a:p>
          <a:p>
            <a:pPr>
              <a:spcBef>
                <a:spcPct val="50000"/>
              </a:spcBef>
            </a:pPr>
            <a:r>
              <a:rPr lang="en-US" altLang="zh-CN" sz="3600" b="1" i="1" dirty="0"/>
              <a:t> 2. </a:t>
            </a:r>
            <a:r>
              <a:rPr lang="zh-CN" altLang="en-US" sz="3600" b="1" i="1" dirty="0" smtClean="0"/>
              <a:t>为什么医生没有及时诊断出低镁？</a:t>
            </a:r>
            <a:endParaRPr lang="en-US" altLang="zh-CN" sz="3600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914400" y="642918"/>
            <a:ext cx="79248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0" lang="zh-CN" altLang="en-US" sz="45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低钾血症对机体的影响</a:t>
            </a:r>
          </a:p>
          <a:p>
            <a:pPr>
              <a:spcBef>
                <a:spcPct val="50000"/>
              </a:spcBef>
            </a:pPr>
            <a:endParaRPr lang="en-US" altLang="zh-CN" sz="3000" b="1" dirty="0">
              <a:latin typeface="宋体" pitchFamily="2" charset="-122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914400" y="1752600"/>
            <a:ext cx="731520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3000" b="1" dirty="0">
                <a:latin typeface="宋体" pitchFamily="2" charset="-122"/>
              </a:rPr>
              <a:t>（一）骨 骼 肌</a:t>
            </a:r>
          </a:p>
          <a:p>
            <a:pPr algn="just">
              <a:spcBef>
                <a:spcPct val="50000"/>
              </a:spcBef>
            </a:pPr>
            <a:r>
              <a:rPr lang="en-US" altLang="zh-CN" sz="3000" b="1" dirty="0">
                <a:latin typeface="宋体" pitchFamily="2" charset="-122"/>
              </a:rPr>
              <a:t>1</a:t>
            </a:r>
            <a:r>
              <a:rPr lang="zh-CN" altLang="en-US" sz="3000" b="1" dirty="0">
                <a:latin typeface="宋体" pitchFamily="2" charset="-122"/>
              </a:rPr>
              <a:t>．</a:t>
            </a:r>
            <a:r>
              <a:rPr lang="zh-CN" altLang="en-US" sz="3000" b="1" dirty="0">
                <a:solidFill>
                  <a:schemeClr val="accent1">
                    <a:lumMod val="50000"/>
                  </a:schemeClr>
                </a:solidFill>
                <a:latin typeface="宋体" pitchFamily="2" charset="-122"/>
                <a:hlinkClick r:id="rId3" action="ppaction://hlinksldjump"/>
              </a:rPr>
              <a:t>肌无力→弛缓性麻痹</a:t>
            </a:r>
            <a:endParaRPr lang="zh-CN" altLang="en-US" sz="3000" b="1" dirty="0">
              <a:solidFill>
                <a:schemeClr val="accent1">
                  <a:lumMod val="50000"/>
                </a:schemeClr>
              </a:solidFill>
              <a:latin typeface="宋体" pitchFamily="2" charset="-122"/>
            </a:endParaRPr>
          </a:p>
          <a:p>
            <a:pPr algn="just">
              <a:spcBef>
                <a:spcPct val="50000"/>
              </a:spcBef>
            </a:pPr>
            <a:r>
              <a:rPr lang="zh-CN" altLang="en-US" sz="3000" b="1" dirty="0">
                <a:latin typeface="宋体" pitchFamily="2" charset="-122"/>
              </a:rPr>
              <a:t> </a:t>
            </a:r>
          </a:p>
          <a:p>
            <a:pPr>
              <a:spcBef>
                <a:spcPct val="50000"/>
              </a:spcBef>
            </a:pPr>
            <a:endParaRPr lang="en-US" altLang="zh-CN" dirty="0">
              <a:latin typeface="宋体" pitchFamily="2" charset="-122"/>
            </a:endParaRP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914400" y="3200400"/>
            <a:ext cx="739140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3000" b="1">
                <a:latin typeface="宋体" pitchFamily="2" charset="-122"/>
              </a:rPr>
              <a:t>（</a:t>
            </a:r>
            <a:r>
              <a:rPr lang="en-US" altLang="zh-CN" sz="3000" b="1">
                <a:latin typeface="宋体" pitchFamily="2" charset="-122"/>
              </a:rPr>
              <a:t>1</a:t>
            </a:r>
            <a:r>
              <a:rPr lang="zh-CN" altLang="en-US" sz="3000" b="1">
                <a:latin typeface="宋体" pitchFamily="2" charset="-122"/>
              </a:rPr>
              <a:t>）血清钾浓度为</a:t>
            </a:r>
            <a:r>
              <a:rPr lang="en-US" altLang="zh-CN" sz="3000" b="1">
                <a:latin typeface="宋体" pitchFamily="2" charset="-122"/>
              </a:rPr>
              <a:t>2.5</a:t>
            </a:r>
            <a:r>
              <a:rPr lang="en-US" altLang="zh-CN" sz="3000" b="1" baseline="-25000">
                <a:latin typeface="宋体" pitchFamily="2" charset="-122"/>
              </a:rPr>
              <a:t>~</a:t>
            </a:r>
            <a:r>
              <a:rPr lang="en-US" altLang="zh-CN" sz="3000" b="1">
                <a:latin typeface="宋体" pitchFamily="2" charset="-122"/>
              </a:rPr>
              <a:t>3.0mmol/L </a:t>
            </a:r>
            <a:r>
              <a:rPr lang="zh-CN" altLang="en-US" sz="3000" b="1">
                <a:latin typeface="宋体" pitchFamily="2" charset="-122"/>
              </a:rPr>
              <a:t>时：</a:t>
            </a:r>
          </a:p>
          <a:p>
            <a:pPr algn="just">
              <a:spcBef>
                <a:spcPct val="50000"/>
              </a:spcBef>
            </a:pPr>
            <a:r>
              <a:rPr lang="zh-CN" altLang="en-US" sz="3000" b="1">
                <a:latin typeface="宋体" pitchFamily="2" charset="-122"/>
              </a:rPr>
              <a:t>    四肢软弱无力</a:t>
            </a:r>
          </a:p>
          <a:p>
            <a:pPr algn="just">
              <a:spcBef>
                <a:spcPct val="50000"/>
              </a:spcBef>
            </a:pPr>
            <a:r>
              <a:rPr lang="zh-CN" altLang="en-US" sz="3000" b="1">
                <a:latin typeface="宋体" pitchFamily="2" charset="-122"/>
              </a:rPr>
              <a:t> </a:t>
            </a:r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914400" y="4724400"/>
            <a:ext cx="7543800" cy="178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3000" b="1">
                <a:latin typeface="宋体" pitchFamily="2" charset="-122"/>
              </a:rPr>
              <a:t>（</a:t>
            </a:r>
            <a:r>
              <a:rPr lang="en-US" altLang="zh-CN" sz="3000" b="1">
                <a:latin typeface="宋体" pitchFamily="2" charset="-122"/>
              </a:rPr>
              <a:t>2</a:t>
            </a:r>
            <a:r>
              <a:rPr lang="zh-CN" altLang="en-US" sz="3000" b="1">
                <a:latin typeface="宋体" pitchFamily="2" charset="-122"/>
              </a:rPr>
              <a:t>）血清钾浓度</a:t>
            </a:r>
            <a:r>
              <a:rPr lang="en-US" altLang="zh-CN" sz="3000" b="1">
                <a:latin typeface="宋体" pitchFamily="2" charset="-122"/>
              </a:rPr>
              <a:t>&lt;2.5mmol/L</a:t>
            </a:r>
            <a:r>
              <a:rPr lang="zh-CN" altLang="en-US" sz="3000" b="1">
                <a:latin typeface="宋体" pitchFamily="2" charset="-122"/>
              </a:rPr>
              <a:t>时；</a:t>
            </a:r>
          </a:p>
          <a:p>
            <a:pPr algn="just">
              <a:spcBef>
                <a:spcPct val="50000"/>
              </a:spcBef>
            </a:pPr>
            <a:r>
              <a:rPr lang="zh-CN" altLang="en-US" sz="3000" b="1">
                <a:latin typeface="宋体" pitchFamily="2" charset="-122"/>
              </a:rPr>
              <a:t>    软瘫、严重者呼吸肌麻痹</a:t>
            </a:r>
          </a:p>
          <a:p>
            <a:pPr>
              <a:spcBef>
                <a:spcPct val="50000"/>
              </a:spcBef>
            </a:pPr>
            <a:endParaRPr lang="en-US" altLang="zh-CN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autoUpdateAnimBg="0"/>
      <p:bldP spid="34819" grpId="0" autoUpdateAnimBg="0"/>
      <p:bldP spid="34820" grpId="0" autoUpdateAnimBg="0"/>
      <p:bldP spid="3482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E:\05\ji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Line 4"/>
          <p:cNvSpPr>
            <a:spLocks noChangeShapeType="1"/>
          </p:cNvSpPr>
          <p:nvPr/>
        </p:nvSpPr>
        <p:spPr bwMode="auto">
          <a:xfrm>
            <a:off x="7315200" y="14478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6388" name="Group 7"/>
          <p:cNvGrpSpPr>
            <a:grpSpLocks/>
          </p:cNvGrpSpPr>
          <p:nvPr/>
        </p:nvGrpSpPr>
        <p:grpSpPr bwMode="auto">
          <a:xfrm>
            <a:off x="5214938" y="1006476"/>
            <a:ext cx="3038475" cy="871538"/>
            <a:chOff x="3285" y="634"/>
            <a:chExt cx="1914" cy="549"/>
          </a:xfrm>
        </p:grpSpPr>
        <p:sp>
          <p:nvSpPr>
            <p:cNvPr id="16389" name="Text Box 3"/>
            <p:cNvSpPr txBox="1">
              <a:spLocks noChangeArrowheads="1"/>
            </p:cNvSpPr>
            <p:nvPr/>
          </p:nvSpPr>
          <p:spPr bwMode="auto">
            <a:xfrm>
              <a:off x="3285" y="746"/>
              <a:ext cx="14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Em≈E</a:t>
              </a:r>
              <a:r>
                <a:rPr lang="en-US" altLang="zh-CN" baseline="-30000" dirty="0"/>
                <a:t>k+</a:t>
              </a:r>
              <a:r>
                <a:rPr lang="en-US" altLang="zh-CN" dirty="0"/>
                <a:t> </a:t>
              </a:r>
              <a:r>
                <a:rPr lang="en-US" altLang="zh-CN" dirty="0" smtClean="0"/>
                <a:t>= -60 lg</a:t>
              </a:r>
              <a:endParaRPr lang="en-US" altLang="zh-CN" dirty="0"/>
            </a:p>
          </p:txBody>
        </p:sp>
        <p:sp>
          <p:nvSpPr>
            <p:cNvPr id="16390" name="Text Box 5"/>
            <p:cNvSpPr txBox="1">
              <a:spLocks noChangeArrowheads="1"/>
            </p:cNvSpPr>
            <p:nvPr/>
          </p:nvSpPr>
          <p:spPr bwMode="auto">
            <a:xfrm>
              <a:off x="4608" y="634"/>
              <a:ext cx="56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[K</a:t>
              </a:r>
              <a:r>
                <a:rPr lang="en-US" altLang="zh-CN" baseline="30000" dirty="0"/>
                <a:t>+</a:t>
              </a:r>
              <a:r>
                <a:rPr lang="en-US" altLang="zh-CN" dirty="0"/>
                <a:t> </a:t>
              </a:r>
              <a:r>
                <a:rPr lang="en-US" altLang="zh-CN" dirty="0" smtClean="0"/>
                <a:t>]i</a:t>
              </a:r>
              <a:endParaRPr lang="en-US" altLang="zh-CN" dirty="0"/>
            </a:p>
          </p:txBody>
        </p:sp>
        <p:sp>
          <p:nvSpPr>
            <p:cNvPr id="16391" name="Text Box 6"/>
            <p:cNvSpPr txBox="1">
              <a:spLocks noChangeArrowheads="1"/>
            </p:cNvSpPr>
            <p:nvPr/>
          </p:nvSpPr>
          <p:spPr bwMode="auto">
            <a:xfrm>
              <a:off x="4606" y="892"/>
              <a:ext cx="59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[K</a:t>
              </a:r>
              <a:r>
                <a:rPr lang="en-US" altLang="zh-CN" baseline="30000" dirty="0"/>
                <a:t>+</a:t>
              </a:r>
              <a:r>
                <a:rPr lang="en-US" altLang="zh-CN" dirty="0"/>
                <a:t> </a:t>
              </a:r>
              <a:r>
                <a:rPr lang="en-US" altLang="zh-CN" dirty="0" smtClean="0"/>
                <a:t>]e</a:t>
              </a:r>
              <a:endParaRPr lang="en-US" altLang="zh-CN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685800" y="990600"/>
            <a:ext cx="7848600" cy="405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3200" b="1" dirty="0">
                <a:latin typeface="宋体" pitchFamily="2" charset="-122"/>
              </a:rPr>
              <a:t>2</a:t>
            </a:r>
            <a:r>
              <a:rPr lang="zh-CN" altLang="en-US" sz="3200" b="1" dirty="0">
                <a:latin typeface="宋体" pitchFamily="2" charset="-122"/>
              </a:rPr>
              <a:t>．骨骼肌溶解</a:t>
            </a:r>
          </a:p>
          <a:p>
            <a:pPr algn="just">
              <a:spcBef>
                <a:spcPct val="50000"/>
              </a:spcBef>
            </a:pPr>
            <a:r>
              <a:rPr lang="zh-CN" altLang="en-US" sz="3200" b="1" dirty="0">
                <a:latin typeface="宋体" pitchFamily="2" charset="-122"/>
              </a:rPr>
              <a:t>    严重缺钾（血清钾</a:t>
            </a:r>
            <a:r>
              <a:rPr lang="en-US" altLang="zh-CN" sz="3200" b="1" dirty="0">
                <a:latin typeface="宋体" pitchFamily="2" charset="-122"/>
              </a:rPr>
              <a:t>&lt;2.5mmol/L</a:t>
            </a:r>
            <a:r>
              <a:rPr lang="zh-CN" altLang="en-US" sz="3200" b="1" dirty="0">
                <a:latin typeface="宋体" pitchFamily="2" charset="-122"/>
              </a:rPr>
              <a:t>），肌肉运动细胞内钾不能释出使血管扩张→骨骼肌细胞供血↓→肌肉痉挛、缺血性坏死和骨骼肌溶解</a:t>
            </a:r>
          </a:p>
          <a:p>
            <a:pPr algn="just">
              <a:spcBef>
                <a:spcPct val="50000"/>
              </a:spcBef>
            </a:pPr>
            <a:r>
              <a:rPr lang="zh-CN" altLang="en-US" sz="3200" b="1" dirty="0">
                <a:latin typeface="宋体" pitchFamily="2" charset="-122"/>
              </a:rPr>
              <a:t>    缺钾→糖原合成↓→代谢障碍</a:t>
            </a:r>
          </a:p>
          <a:p>
            <a:pPr>
              <a:spcBef>
                <a:spcPct val="50000"/>
              </a:spcBef>
            </a:pPr>
            <a:endParaRPr lang="en-US" altLang="zh-CN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838200" y="1219200"/>
            <a:ext cx="7391400" cy="1865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3600" b="1" dirty="0">
                <a:ea typeface="方正大黑简体" pitchFamily="2" charset="-122"/>
              </a:rPr>
              <a:t>（二） 胃肠道平滑肌</a:t>
            </a:r>
          </a:p>
          <a:p>
            <a:pPr>
              <a:spcBef>
                <a:spcPct val="50000"/>
              </a:spcBef>
            </a:pPr>
            <a:r>
              <a:rPr lang="zh-CN" altLang="en-US" dirty="0"/>
              <a:t>        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/>
              <a:t>           </a:t>
            </a:r>
            <a:endParaRPr lang="zh-CN" altLang="en-US" b="1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762000" y="2133600"/>
            <a:ext cx="7239000" cy="278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sz="3200" b="1" dirty="0">
                <a:latin typeface="宋体" pitchFamily="2" charset="-122"/>
              </a:rPr>
              <a:t>   </a:t>
            </a:r>
            <a:r>
              <a:rPr lang="zh-CN" altLang="en-US" sz="3200" b="1" dirty="0">
                <a:latin typeface="宋体" pitchFamily="2" charset="-122"/>
              </a:rPr>
              <a:t>肌无力→麻痹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3200" b="1" dirty="0">
                <a:latin typeface="宋体" pitchFamily="2" charset="-122"/>
              </a:rPr>
              <a:t>   肌细胞兴奋性↓（超极化阻滞）→肠道运动↓、肠麻痹、麻痹性肠梗阻</a:t>
            </a:r>
            <a:r>
              <a:rPr lang="zh-CN" altLang="en-US" b="1" dirty="0">
                <a:latin typeface="宋体" pitchFamily="2" charset="-122"/>
              </a:rPr>
              <a:t> </a:t>
            </a:r>
          </a:p>
          <a:p>
            <a:pPr>
              <a:spcBef>
                <a:spcPct val="50000"/>
              </a:spcBef>
            </a:pPr>
            <a:endParaRPr lang="en-US" altLang="zh-CN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utoUpdateAnimBg="0"/>
      <p:bldP spid="3789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571472" y="603780"/>
            <a:ext cx="7848600" cy="3182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1" dirty="0">
                <a:latin typeface="宋体" pitchFamily="2" charset="-122"/>
              </a:rPr>
              <a:t>（三）心 肌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1" dirty="0">
                <a:latin typeface="宋体" pitchFamily="2" charset="-122"/>
              </a:rPr>
              <a:t>    </a:t>
            </a:r>
          </a:p>
          <a:p>
            <a:pPr algn="just">
              <a:spcBef>
                <a:spcPct val="50000"/>
              </a:spcBef>
            </a:pPr>
            <a:r>
              <a:rPr lang="zh-CN" altLang="en-US" sz="2800" b="1" dirty="0"/>
              <a:t> </a:t>
            </a:r>
            <a:endParaRPr lang="zh-CN" altLang="en-US" sz="2800" b="1" dirty="0">
              <a:latin typeface="宋体" pitchFamily="2" charset="-122"/>
            </a:endParaRPr>
          </a:p>
          <a:p>
            <a:pPr algn="just">
              <a:spcBef>
                <a:spcPct val="50000"/>
              </a:spcBef>
            </a:pPr>
            <a:r>
              <a:rPr lang="zh-CN" altLang="en-US" dirty="0"/>
              <a:t> </a:t>
            </a:r>
            <a:endParaRPr lang="zh-CN" altLang="en-US" dirty="0">
              <a:latin typeface="宋体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宋体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28662" y="1285860"/>
            <a:ext cx="63579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latin typeface="宋体" pitchFamily="2" charset="-122"/>
              </a:rPr>
              <a:t>心肌兴奋性、传导性、自律性、收缩性改变</a:t>
            </a:r>
            <a:endParaRPr lang="zh-CN" altLang="en-US" dirty="0"/>
          </a:p>
        </p:txBody>
      </p:sp>
      <p:pic>
        <p:nvPicPr>
          <p:cNvPr id="8" name="Picture 7" descr="图片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336290"/>
            <a:ext cx="8748464" cy="652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395536" y="188640"/>
            <a:ext cx="26164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Bef>
                <a:spcPct val="50000"/>
              </a:spcBef>
            </a:pPr>
            <a:r>
              <a:rPr lang="zh-CN" altLang="en-US" sz="3600" b="1" dirty="0" smtClean="0">
                <a:solidFill>
                  <a:prstClr val="black"/>
                </a:solidFill>
                <a:ea typeface="方正大黑简体" pitchFamily="2" charset="-122"/>
              </a:rPr>
              <a:t>（三） 心肌</a:t>
            </a:r>
            <a:endParaRPr lang="zh-CN" altLang="en-US" sz="3600" b="1" dirty="0">
              <a:solidFill>
                <a:prstClr val="black"/>
              </a:solidFill>
              <a:ea typeface="方正大黑简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13" name="Rectangle 49"/>
          <p:cNvSpPr>
            <a:spLocks noChangeArrowheads="1"/>
          </p:cNvSpPr>
          <p:nvPr/>
        </p:nvSpPr>
        <p:spPr bwMode="auto">
          <a:xfrm>
            <a:off x="1042988" y="404813"/>
            <a:ext cx="7367587" cy="140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r>
              <a:rPr lang="en-US" altLang="zh-CN" sz="3200" dirty="0"/>
              <a:t>The Action Potential of </a:t>
            </a:r>
            <a:r>
              <a:rPr lang="en-US" altLang="zh-CN" sz="3200" dirty="0" err="1"/>
              <a:t>Sinoatrial</a:t>
            </a:r>
            <a:r>
              <a:rPr lang="en-US" altLang="zh-CN" sz="3200" dirty="0"/>
              <a:t> Node, Ventricular  Muscle and Purkinje’s Fiber</a:t>
            </a:r>
          </a:p>
        </p:txBody>
      </p:sp>
      <p:pic>
        <p:nvPicPr>
          <p:cNvPr id="164914" name="Picture 50" descr="AP of cardiac cel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4213" y="2060575"/>
            <a:ext cx="7632700" cy="3379788"/>
          </a:xfrm>
          <a:prstGeom prst="rect">
            <a:avLst/>
          </a:prstGeom>
          <a:noFill/>
        </p:spPr>
      </p:pic>
      <p:sp>
        <p:nvSpPr>
          <p:cNvPr id="164915" name="Rectangle 51"/>
          <p:cNvSpPr>
            <a:spLocks noChangeArrowheads="1"/>
          </p:cNvSpPr>
          <p:nvPr/>
        </p:nvSpPr>
        <p:spPr bwMode="auto">
          <a:xfrm>
            <a:off x="1597025" y="4200525"/>
            <a:ext cx="1103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b="1" dirty="0"/>
              <a:t>窦房结</a:t>
            </a:r>
            <a:endParaRPr lang="en-US" altLang="zh-CN" b="1" dirty="0"/>
          </a:p>
        </p:txBody>
      </p:sp>
      <p:sp>
        <p:nvSpPr>
          <p:cNvPr id="164916" name="Rectangle 52"/>
          <p:cNvSpPr>
            <a:spLocks noChangeArrowheads="1"/>
          </p:cNvSpPr>
          <p:nvPr/>
        </p:nvSpPr>
        <p:spPr bwMode="auto">
          <a:xfrm>
            <a:off x="3905250" y="4200525"/>
            <a:ext cx="1103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b="1"/>
              <a:t>心室肌</a:t>
            </a:r>
            <a:endParaRPr lang="en-US" altLang="zh-CN" b="1"/>
          </a:p>
        </p:txBody>
      </p:sp>
      <p:sp>
        <p:nvSpPr>
          <p:cNvPr id="164917" name="Rectangle 53"/>
          <p:cNvSpPr>
            <a:spLocks noChangeArrowheads="1"/>
          </p:cNvSpPr>
          <p:nvPr/>
        </p:nvSpPr>
        <p:spPr bwMode="auto">
          <a:xfrm>
            <a:off x="5978525" y="4221163"/>
            <a:ext cx="21224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Purkinje</a:t>
            </a:r>
            <a:r>
              <a:rPr lang="en-US" altLang="zh-CN">
                <a:latin typeface="Arial"/>
              </a:rPr>
              <a:t>’</a:t>
            </a:r>
            <a:r>
              <a:rPr lang="en-US" altLang="zh-CN"/>
              <a:t>s Fiber</a:t>
            </a:r>
            <a:endParaRPr lang="zh-CN" altLang="en-US"/>
          </a:p>
        </p:txBody>
      </p:sp>
      <p:sp>
        <p:nvSpPr>
          <p:cNvPr id="164918" name="Text Box 54"/>
          <p:cNvSpPr txBox="1">
            <a:spLocks noChangeArrowheads="1"/>
          </p:cNvSpPr>
          <p:nvPr/>
        </p:nvSpPr>
        <p:spPr bwMode="auto">
          <a:xfrm>
            <a:off x="539750" y="4900626"/>
            <a:ext cx="1103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b="1" dirty="0"/>
              <a:t>自律性</a:t>
            </a:r>
            <a:endParaRPr lang="en-US" altLang="zh-CN" b="1" dirty="0"/>
          </a:p>
        </p:txBody>
      </p:sp>
      <p:sp>
        <p:nvSpPr>
          <p:cNvPr id="164919" name="Text Box 55"/>
          <p:cNvSpPr txBox="1">
            <a:spLocks noChangeArrowheads="1"/>
          </p:cNvSpPr>
          <p:nvPr/>
        </p:nvSpPr>
        <p:spPr bwMode="auto">
          <a:xfrm>
            <a:off x="1979613" y="4837126"/>
            <a:ext cx="3873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/>
              <a:t>+</a:t>
            </a:r>
          </a:p>
        </p:txBody>
      </p:sp>
      <p:sp>
        <p:nvSpPr>
          <p:cNvPr id="164920" name="Text Box 56"/>
          <p:cNvSpPr txBox="1">
            <a:spLocks noChangeArrowheads="1"/>
          </p:cNvSpPr>
          <p:nvPr/>
        </p:nvSpPr>
        <p:spPr bwMode="auto">
          <a:xfrm>
            <a:off x="6921500" y="4786322"/>
            <a:ext cx="387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 dirty="0"/>
              <a:t>+</a:t>
            </a:r>
          </a:p>
        </p:txBody>
      </p:sp>
      <p:sp>
        <p:nvSpPr>
          <p:cNvPr id="164921" name="Text Box 57"/>
          <p:cNvSpPr txBox="1">
            <a:spLocks noChangeArrowheads="1"/>
          </p:cNvSpPr>
          <p:nvPr/>
        </p:nvSpPr>
        <p:spPr bwMode="auto">
          <a:xfrm>
            <a:off x="4424364" y="4651388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 dirty="0"/>
              <a:t>_</a:t>
            </a:r>
          </a:p>
        </p:txBody>
      </p:sp>
      <p:sp>
        <p:nvSpPr>
          <p:cNvPr id="164922" name="Text Box 58"/>
          <p:cNvSpPr txBox="1">
            <a:spLocks noChangeArrowheads="1"/>
          </p:cNvSpPr>
          <p:nvPr/>
        </p:nvSpPr>
        <p:spPr bwMode="auto">
          <a:xfrm>
            <a:off x="2463800" y="301783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/>
              <a:t>4</a:t>
            </a:r>
          </a:p>
        </p:txBody>
      </p:sp>
      <p:sp>
        <p:nvSpPr>
          <p:cNvPr id="164923" name="Text Box 59"/>
          <p:cNvSpPr txBox="1">
            <a:spLocks noChangeArrowheads="1"/>
          </p:cNvSpPr>
          <p:nvPr/>
        </p:nvSpPr>
        <p:spPr bwMode="auto">
          <a:xfrm>
            <a:off x="684213" y="323373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4</a:t>
            </a:r>
          </a:p>
        </p:txBody>
      </p:sp>
      <p:sp>
        <p:nvSpPr>
          <p:cNvPr id="164924" name="Text Box 60"/>
          <p:cNvSpPr txBox="1">
            <a:spLocks noChangeArrowheads="1"/>
          </p:cNvSpPr>
          <p:nvPr/>
        </p:nvSpPr>
        <p:spPr bwMode="auto">
          <a:xfrm>
            <a:off x="6035675" y="328453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4</a:t>
            </a:r>
          </a:p>
        </p:txBody>
      </p:sp>
      <p:sp>
        <p:nvSpPr>
          <p:cNvPr id="164925" name="Text Box 61"/>
          <p:cNvSpPr txBox="1">
            <a:spLocks noChangeArrowheads="1"/>
          </p:cNvSpPr>
          <p:nvPr/>
        </p:nvSpPr>
        <p:spPr bwMode="auto">
          <a:xfrm>
            <a:off x="8051800" y="344963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4</a:t>
            </a:r>
          </a:p>
        </p:txBody>
      </p:sp>
      <p:sp>
        <p:nvSpPr>
          <p:cNvPr id="164926" name="Text Box 62"/>
          <p:cNvSpPr txBox="1">
            <a:spLocks noChangeArrowheads="1"/>
          </p:cNvSpPr>
          <p:nvPr/>
        </p:nvSpPr>
        <p:spPr bwMode="auto">
          <a:xfrm>
            <a:off x="5364163" y="3357563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857224" y="714356"/>
            <a:ext cx="7924800" cy="133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3600" b="1" dirty="0" smtClean="0">
                <a:ea typeface="方正大黑简体" pitchFamily="2" charset="-122"/>
              </a:rPr>
              <a:t>低钾血症</a:t>
            </a:r>
            <a:r>
              <a:rPr lang="zh-CN" altLang="en-US" sz="3600" b="1" dirty="0">
                <a:ea typeface="方正大黑简体" pitchFamily="2" charset="-122"/>
              </a:rPr>
              <a:t>对心肌的影响</a:t>
            </a:r>
          </a:p>
          <a:p>
            <a:pPr>
              <a:spcBef>
                <a:spcPct val="50000"/>
              </a:spcBef>
            </a:pPr>
            <a:endParaRPr lang="en-US" altLang="zh-CN" sz="3000" b="1" dirty="0">
              <a:latin typeface="宋体" pitchFamily="2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500034" y="1857364"/>
            <a:ext cx="8643966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      兴奋性</a:t>
            </a:r>
            <a:r>
              <a:rPr lang="zh-CN" altLang="en-US" sz="2800" b="1" dirty="0" smtClean="0">
                <a:latin typeface="宋体" pitchFamily="2" charset="-122"/>
              </a:rPr>
              <a:t>↑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--- 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因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K</a:t>
            </a:r>
            <a:r>
              <a:rPr kumimoji="0" lang="en-US" altLang="zh-CN" sz="2800" b="0" i="0" u="none" strike="noStrike" kern="0" cap="none" spc="0" normalizeH="0" baseline="3000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+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通透性</a:t>
            </a:r>
            <a:r>
              <a:rPr lang="zh-CN" altLang="en-US" sz="2800" b="1" dirty="0" smtClean="0">
                <a:latin typeface="宋体" pitchFamily="2" charset="-122"/>
              </a:rPr>
              <a:t>↓↓ 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RMP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绝对值</a:t>
            </a:r>
            <a:r>
              <a:rPr lang="zh-CN" altLang="en-US" sz="2800" b="1" dirty="0" smtClean="0">
                <a:latin typeface="宋体" pitchFamily="2" charset="-122"/>
              </a:rPr>
              <a:t>↓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       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传导性</a:t>
            </a:r>
            <a:r>
              <a:rPr lang="zh-CN" altLang="en-US" sz="2800" b="1" dirty="0" smtClean="0">
                <a:latin typeface="宋体" pitchFamily="2" charset="-122"/>
              </a:rPr>
              <a:t>↓</a:t>
            </a:r>
            <a:r>
              <a:rPr kumimoji="0" lang="en-US" altLang="zh-CN" sz="2800" kern="0" dirty="0" smtClean="0">
                <a:solidFill>
                  <a:sysClr val="windowText" lastClr="000000"/>
                </a:solidFill>
                <a:sym typeface="Symbol" pitchFamily="18" charset="2"/>
              </a:rPr>
              <a:t>--- </a:t>
            </a:r>
            <a:r>
              <a:rPr kumimoji="0" lang="zh-CN" altLang="en-US" sz="2800" kern="0" dirty="0" smtClean="0">
                <a:solidFill>
                  <a:sysClr val="windowText" lastClr="000000"/>
                </a:solidFill>
                <a:sym typeface="Symbol" pitchFamily="18" charset="2"/>
              </a:rPr>
              <a:t>因</a:t>
            </a:r>
            <a:r>
              <a:rPr kumimoji="0" lang="en-US" altLang="zh-CN" sz="2800" kern="0" dirty="0" smtClean="0">
                <a:solidFill>
                  <a:sysClr val="windowText" lastClr="000000"/>
                </a:solidFill>
                <a:sym typeface="Symbol" pitchFamily="18" charset="2"/>
              </a:rPr>
              <a:t>RMP</a:t>
            </a:r>
            <a:r>
              <a:rPr kumimoji="0" lang="zh-CN" altLang="en-US" sz="2800" kern="0" dirty="0" smtClean="0">
                <a:solidFill>
                  <a:sysClr val="windowText" lastClr="000000"/>
                </a:solidFill>
                <a:sym typeface="Symbol" pitchFamily="18" charset="2"/>
              </a:rPr>
              <a:t>绝对值</a:t>
            </a:r>
            <a:r>
              <a:rPr lang="zh-CN" altLang="en-US" sz="2800" b="1" dirty="0" smtClean="0">
                <a:latin typeface="宋体" pitchFamily="2" charset="-122"/>
              </a:rPr>
              <a:t>↓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sym typeface="Symbol" pitchFamily="18" charset="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       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自律性</a:t>
            </a:r>
            <a:r>
              <a:rPr lang="zh-CN" altLang="en-US" sz="2800" b="1" dirty="0" smtClean="0">
                <a:latin typeface="宋体" pitchFamily="2" charset="-122"/>
              </a:rPr>
              <a:t>↑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--- 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因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K</a:t>
            </a:r>
            <a:r>
              <a:rPr kumimoji="0" lang="en-US" altLang="zh-CN" sz="2800" b="0" i="0" u="none" strike="noStrike" kern="0" cap="none" spc="0" normalizeH="0" baseline="3000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+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通透性</a:t>
            </a:r>
            <a:r>
              <a:rPr lang="zh-CN" altLang="en-US" sz="2800" b="1" dirty="0" smtClean="0">
                <a:latin typeface="宋体" pitchFamily="2" charset="-122"/>
              </a:rPr>
              <a:t>↓↓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自动除极加速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       收缩性</a:t>
            </a:r>
            <a:r>
              <a:rPr lang="zh-CN" altLang="en-US" sz="2800" b="1" dirty="0" smtClean="0">
                <a:latin typeface="宋体" pitchFamily="2" charset="-122"/>
              </a:rPr>
              <a:t>↑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--- Ca</a:t>
            </a:r>
            <a:r>
              <a:rPr kumimoji="0" lang="en-US" altLang="zh-CN" sz="2800" b="0" i="0" u="none" strike="noStrike" kern="0" cap="none" spc="0" normalizeH="0" baseline="3000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++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Symbol" pitchFamily="18" charset="2"/>
              </a:rPr>
              <a:t>内流</a:t>
            </a:r>
            <a:r>
              <a:rPr lang="zh-CN" altLang="en-US" sz="2800" b="1" dirty="0" smtClean="0">
                <a:latin typeface="宋体" pitchFamily="2" charset="-122"/>
              </a:rPr>
              <a:t>↑ </a:t>
            </a:r>
            <a:r>
              <a:rPr lang="zh-CN" altLang="en-US" sz="2800" u="sng" dirty="0" smtClean="0">
                <a:latin typeface="宋体" pitchFamily="2" charset="-122"/>
              </a:rPr>
              <a:t>慢性和严重低钾时下降</a:t>
            </a:r>
            <a:endParaRPr kumimoji="0" lang="zh-CN" altLang="en-US" sz="2800" i="0" u="sng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sym typeface="Symbol" pitchFamily="18" charset="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1857356" y="4143380"/>
            <a:ext cx="5429288" cy="1500198"/>
          </a:xfrm>
          <a:prstGeom prst="roundRect">
            <a:avLst/>
          </a:prstGeom>
          <a:gradFill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357454" y="4286256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宋体" pitchFamily="2" charset="-122"/>
              </a:rPr>
              <a:t>心律失常：窦性心动过速、房性及室性早搏，室上性或室性心动过速及室颤。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E:\05\ji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圆角矩形 2"/>
          <p:cNvSpPr/>
          <p:nvPr/>
        </p:nvSpPr>
        <p:spPr>
          <a:xfrm>
            <a:off x="4357686" y="1285860"/>
            <a:ext cx="1643074" cy="171451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139952" y="3068960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1" dirty="0" smtClean="0"/>
              <a:t>平台期缩短，</a:t>
            </a:r>
            <a:r>
              <a:rPr lang="en-US" altLang="zh-CN" sz="1800" b="1" dirty="0" smtClean="0"/>
              <a:t>3</a:t>
            </a:r>
            <a:r>
              <a:rPr lang="zh-CN" altLang="en-US" sz="1800" b="1" dirty="0" smtClean="0"/>
              <a:t>期延长</a:t>
            </a:r>
            <a:endParaRPr lang="zh-CN" altLang="en-US" sz="1800" b="1" dirty="0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51520" y="99209"/>
            <a:ext cx="7924800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800" b="1" dirty="0" smtClean="0">
                <a:ea typeface="方正大黑简体" pitchFamily="2" charset="-122"/>
              </a:rPr>
              <a:t>低钾血症时心室肌动作电位变化？</a:t>
            </a:r>
            <a:endParaRPr lang="zh-CN" altLang="en-US" sz="2800" b="1" dirty="0">
              <a:ea typeface="方正大黑简体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sz="2800" b="1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381000" y="685800"/>
            <a:ext cx="8001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3200" b="1">
                <a:latin typeface="宋体" pitchFamily="2" charset="-122"/>
              </a:rPr>
              <a:t>（四） 肾  脏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762000" y="1552575"/>
            <a:ext cx="762000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b="1">
                <a:latin typeface="宋体" pitchFamily="2" charset="-122"/>
              </a:rPr>
              <a:t>1</a:t>
            </a:r>
            <a:r>
              <a:rPr lang="zh-CN" altLang="en-US" b="1">
                <a:latin typeface="宋体" pitchFamily="2" charset="-122"/>
              </a:rPr>
              <a:t>．尿浓缩功能↓：多尿，低比重尿</a:t>
            </a:r>
          </a:p>
          <a:p>
            <a:pPr algn="just">
              <a:spcBef>
                <a:spcPct val="50000"/>
              </a:spcBef>
            </a:pPr>
            <a:r>
              <a:rPr lang="zh-CN" altLang="en-US" b="1">
                <a:latin typeface="宋体" pitchFamily="2" charset="-122"/>
              </a:rPr>
              <a:t>  </a:t>
            </a:r>
          </a:p>
          <a:p>
            <a:pPr>
              <a:spcBef>
                <a:spcPct val="50000"/>
              </a:spcBef>
            </a:pPr>
            <a:endParaRPr lang="en-US" altLang="zh-CN">
              <a:latin typeface="宋体" pitchFamily="2" charset="-122"/>
            </a:endParaRP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990600" y="2238375"/>
            <a:ext cx="7543800" cy="210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b="1">
                <a:latin typeface="宋体" pitchFamily="2" charset="-122"/>
              </a:rPr>
              <a:t>机 制：</a:t>
            </a:r>
          </a:p>
          <a:p>
            <a:pPr algn="just">
              <a:spcBef>
                <a:spcPct val="50000"/>
              </a:spcBef>
            </a:pPr>
            <a:r>
              <a:rPr lang="en-US" altLang="zh-CN" b="1">
                <a:latin typeface="宋体" pitchFamily="2" charset="-122"/>
              </a:rPr>
              <a:t>(1) </a:t>
            </a:r>
            <a:r>
              <a:rPr lang="zh-CN" altLang="en-US" b="1">
                <a:latin typeface="宋体" pitchFamily="2" charset="-122"/>
              </a:rPr>
              <a:t>远曲小管和集合管对</a:t>
            </a:r>
            <a:r>
              <a:rPr lang="en-US" altLang="zh-CN" b="1">
                <a:latin typeface="宋体" pitchFamily="2" charset="-122"/>
              </a:rPr>
              <a:t>ADH</a:t>
            </a:r>
            <a:r>
              <a:rPr lang="zh-CN" altLang="en-US" b="1">
                <a:latin typeface="宋体" pitchFamily="2" charset="-122"/>
              </a:rPr>
              <a:t>反应性↓</a:t>
            </a:r>
          </a:p>
          <a:p>
            <a:pPr algn="just">
              <a:spcBef>
                <a:spcPct val="50000"/>
              </a:spcBef>
            </a:pPr>
            <a:r>
              <a:rPr lang="en-US" altLang="zh-CN" b="1">
                <a:latin typeface="宋体" pitchFamily="2" charset="-122"/>
              </a:rPr>
              <a:t>(2) </a:t>
            </a:r>
            <a:r>
              <a:rPr lang="zh-CN" altLang="en-US" b="1">
                <a:latin typeface="宋体" pitchFamily="2" charset="-122"/>
              </a:rPr>
              <a:t>髓袢升枝受损→对</a:t>
            </a:r>
            <a:r>
              <a:rPr lang="en-US" altLang="zh-CN" b="1">
                <a:latin typeface="宋体" pitchFamily="2" charset="-122"/>
              </a:rPr>
              <a:t>Na</a:t>
            </a:r>
            <a:r>
              <a:rPr lang="en-US" altLang="zh-CN" b="1" baseline="30000">
                <a:latin typeface="宋体" pitchFamily="2" charset="-122"/>
              </a:rPr>
              <a:t>+</a:t>
            </a:r>
            <a:r>
              <a:rPr lang="zh-CN" altLang="en-US" b="1">
                <a:latin typeface="宋体" pitchFamily="2" charset="-122"/>
              </a:rPr>
              <a:t>、</a:t>
            </a:r>
            <a:r>
              <a:rPr lang="en-US" altLang="zh-CN" b="1">
                <a:latin typeface="宋体" pitchFamily="2" charset="-122"/>
              </a:rPr>
              <a:t>Cl</a:t>
            </a:r>
            <a:r>
              <a:rPr lang="en-US" altLang="zh-CN" b="1" baseline="30000">
                <a:latin typeface="宋体" pitchFamily="2" charset="-122"/>
              </a:rPr>
              <a:t>-</a:t>
            </a:r>
            <a:r>
              <a:rPr lang="zh-CN" altLang="en-US" b="1">
                <a:latin typeface="宋体" pitchFamily="2" charset="-122"/>
              </a:rPr>
              <a:t>重吸收↓→</a:t>
            </a:r>
          </a:p>
          <a:p>
            <a:pPr algn="just">
              <a:spcBef>
                <a:spcPct val="50000"/>
              </a:spcBef>
            </a:pPr>
            <a:r>
              <a:rPr lang="zh-CN" altLang="en-US" b="1">
                <a:latin typeface="宋体" pitchFamily="2" charset="-122"/>
              </a:rPr>
              <a:t>  影响髓质正常渗透压梯度</a:t>
            </a:r>
          </a:p>
        </p:txBody>
      </p:sp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914400" y="4406900"/>
            <a:ext cx="7467600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b="1">
                <a:latin typeface="宋体" pitchFamily="2" charset="-122"/>
              </a:rPr>
              <a:t>2</a:t>
            </a:r>
            <a:r>
              <a:rPr lang="zh-CN" altLang="en-US" b="1">
                <a:latin typeface="宋体" pitchFamily="2" charset="-122"/>
              </a:rPr>
              <a:t>．缺钾性肾病：</a:t>
            </a:r>
          </a:p>
          <a:p>
            <a:pPr algn="just">
              <a:spcBef>
                <a:spcPct val="50000"/>
              </a:spcBef>
            </a:pPr>
            <a:r>
              <a:rPr lang="zh-CN" altLang="en-US" b="1">
                <a:latin typeface="宋体" pitchFamily="2" charset="-122"/>
              </a:rPr>
              <a:t>    近曲小管，髓质集合管上皮细胞空泡变性，肾间质纤维化，肾小管萎缩等</a:t>
            </a:r>
          </a:p>
          <a:p>
            <a:pPr>
              <a:spcBef>
                <a:spcPct val="50000"/>
              </a:spcBef>
            </a:pPr>
            <a:endParaRPr lang="en-US" altLang="zh-CN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457200" y="609600"/>
            <a:ext cx="83058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3200" b="1">
                <a:latin typeface="宋体" pitchFamily="2" charset="-122"/>
              </a:rPr>
              <a:t>（五）酸碱平衡</a:t>
            </a:r>
          </a:p>
          <a:p>
            <a:pPr algn="just">
              <a:spcBef>
                <a:spcPct val="50000"/>
              </a:spcBef>
            </a:pPr>
            <a:r>
              <a:rPr lang="zh-CN" altLang="en-US" sz="3200" b="1">
                <a:latin typeface="宋体" pitchFamily="2" charset="-122"/>
              </a:rPr>
              <a:t>    </a:t>
            </a:r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685800" y="1508125"/>
            <a:ext cx="7391400" cy="1370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b="1" dirty="0">
                <a:latin typeface="宋体" pitchFamily="2" charset="-122"/>
              </a:rPr>
              <a:t>    </a:t>
            </a:r>
            <a:r>
              <a:rPr lang="zh-CN" altLang="en-US" b="1" dirty="0">
                <a:latin typeface="宋体" pitchFamily="2" charset="-122"/>
              </a:rPr>
              <a:t>与原发疾病或引起低钾血症原因有关，但是缺钾或低钾血症本身往往引起代谢性碱中毒</a:t>
            </a:r>
          </a:p>
          <a:p>
            <a:pPr>
              <a:spcBef>
                <a:spcPct val="50000"/>
              </a:spcBef>
            </a:pPr>
            <a:endParaRPr lang="en-US" altLang="zh-CN" dirty="0">
              <a:latin typeface="宋体" pitchFamily="2" charset="-122"/>
            </a:endParaRPr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609600" y="2422525"/>
            <a:ext cx="8305800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b="1" dirty="0">
                <a:latin typeface="宋体" pitchFamily="2" charset="-122"/>
              </a:rPr>
              <a:t>机制</a:t>
            </a:r>
          </a:p>
          <a:p>
            <a:pPr algn="just">
              <a:spcBef>
                <a:spcPct val="50000"/>
              </a:spcBef>
            </a:pPr>
            <a:r>
              <a:rPr lang="zh-CN" altLang="en-US" b="1" dirty="0">
                <a:latin typeface="宋体" pitchFamily="2" charset="-122"/>
              </a:rPr>
              <a:t> </a:t>
            </a:r>
            <a:r>
              <a:rPr lang="en-US" altLang="zh-CN" b="1" dirty="0">
                <a:latin typeface="宋体" pitchFamily="2" charset="-122"/>
              </a:rPr>
              <a:t>1</a:t>
            </a:r>
            <a:r>
              <a:rPr lang="zh-CN" altLang="en-US" b="1" dirty="0">
                <a:latin typeface="宋体" pitchFamily="2" charset="-122"/>
              </a:rPr>
              <a:t>．低钾血症→肾小管上皮细胞内</a:t>
            </a:r>
            <a:r>
              <a:rPr lang="en-US" altLang="zh-CN" b="1" dirty="0">
                <a:latin typeface="宋体" pitchFamily="2" charset="-122"/>
              </a:rPr>
              <a:t>K</a:t>
            </a:r>
            <a:r>
              <a:rPr lang="en-US" altLang="zh-CN" b="1" baseline="30000" dirty="0">
                <a:latin typeface="宋体" pitchFamily="2" charset="-122"/>
              </a:rPr>
              <a:t>+</a:t>
            </a:r>
            <a:r>
              <a:rPr lang="en-US" altLang="zh-CN" b="1" dirty="0">
                <a:latin typeface="宋体" pitchFamily="2" charset="-122"/>
              </a:rPr>
              <a:t>↓→K</a:t>
            </a:r>
            <a:r>
              <a:rPr lang="en-US" altLang="zh-CN" b="1" baseline="30000" dirty="0">
                <a:latin typeface="宋体" pitchFamily="2" charset="-122"/>
              </a:rPr>
              <a:t>+</a:t>
            </a:r>
            <a:r>
              <a:rPr lang="en-US" altLang="zh-CN" b="1" dirty="0"/>
              <a:t>—</a:t>
            </a:r>
            <a:r>
              <a:rPr lang="en-US" altLang="zh-CN" b="1" dirty="0">
                <a:latin typeface="宋体" pitchFamily="2" charset="-122"/>
              </a:rPr>
              <a:t>Na</a:t>
            </a:r>
            <a:r>
              <a:rPr lang="en-US" altLang="zh-CN" b="1" baseline="30000" dirty="0">
                <a:latin typeface="宋体" pitchFamily="2" charset="-122"/>
              </a:rPr>
              <a:t>+</a:t>
            </a:r>
            <a:r>
              <a:rPr lang="en-US" altLang="zh-CN" b="1" dirty="0">
                <a:latin typeface="宋体" pitchFamily="2" charset="-122"/>
              </a:rPr>
              <a:t>↓</a:t>
            </a:r>
            <a:r>
              <a:rPr lang="zh-CN" altLang="en-US" b="1" dirty="0">
                <a:latin typeface="宋体" pitchFamily="2" charset="-122"/>
              </a:rPr>
              <a:t>、</a:t>
            </a:r>
            <a:r>
              <a:rPr lang="en-US" altLang="zh-CN" b="1" dirty="0">
                <a:latin typeface="宋体" pitchFamily="2" charset="-122"/>
              </a:rPr>
              <a:t>H</a:t>
            </a:r>
            <a:r>
              <a:rPr lang="en-US" altLang="zh-CN" b="1" baseline="30000" dirty="0">
                <a:latin typeface="宋体" pitchFamily="2" charset="-122"/>
              </a:rPr>
              <a:t>+</a:t>
            </a:r>
            <a:r>
              <a:rPr lang="en-US" altLang="zh-CN" b="1" dirty="0">
                <a:latin typeface="宋体" pitchFamily="2" charset="-122"/>
              </a:rPr>
              <a:t>-Na</a:t>
            </a:r>
            <a:r>
              <a:rPr lang="en-US" altLang="zh-CN" b="1" baseline="30000" dirty="0">
                <a:latin typeface="宋体" pitchFamily="2" charset="-122"/>
              </a:rPr>
              <a:t>+</a:t>
            </a:r>
            <a:r>
              <a:rPr lang="en-US" altLang="zh-CN" b="1" dirty="0">
                <a:latin typeface="宋体" pitchFamily="2" charset="-122"/>
              </a:rPr>
              <a:t>↑→</a:t>
            </a:r>
            <a:r>
              <a:rPr lang="zh-CN" altLang="en-US" b="1" dirty="0">
                <a:latin typeface="宋体" pitchFamily="2" charset="-122"/>
              </a:rPr>
              <a:t>肾排</a:t>
            </a:r>
            <a:r>
              <a:rPr lang="en-US" altLang="zh-CN" b="1" dirty="0">
                <a:latin typeface="宋体" pitchFamily="2" charset="-122"/>
              </a:rPr>
              <a:t>H</a:t>
            </a:r>
            <a:r>
              <a:rPr lang="en-US" altLang="zh-CN" b="1" baseline="30000" dirty="0">
                <a:latin typeface="宋体" pitchFamily="2" charset="-122"/>
              </a:rPr>
              <a:t>+</a:t>
            </a:r>
            <a:r>
              <a:rPr lang="en-US" altLang="zh-CN" b="1" dirty="0">
                <a:latin typeface="宋体" pitchFamily="2" charset="-122"/>
              </a:rPr>
              <a:t>↑</a:t>
            </a:r>
          </a:p>
          <a:p>
            <a:pPr algn="just">
              <a:spcBef>
                <a:spcPct val="50000"/>
              </a:spcBef>
            </a:pPr>
            <a:r>
              <a:rPr lang="en-US" altLang="zh-CN" b="1" dirty="0">
                <a:latin typeface="宋体" pitchFamily="2" charset="-122"/>
              </a:rPr>
              <a:t> </a:t>
            </a:r>
            <a:endParaRPr lang="en-US" altLang="zh-CN" dirty="0">
              <a:latin typeface="宋体" pitchFamily="2" charset="-122"/>
            </a:endParaRPr>
          </a:p>
        </p:txBody>
      </p:sp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762000" y="3981450"/>
            <a:ext cx="784860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b="1" dirty="0">
                <a:latin typeface="宋体" pitchFamily="2" charset="-122"/>
              </a:rPr>
              <a:t>2</a:t>
            </a:r>
            <a:r>
              <a:rPr lang="zh-CN" altLang="en-US" b="1" dirty="0">
                <a:latin typeface="宋体" pitchFamily="2" charset="-122"/>
              </a:rPr>
              <a:t>．低钾血症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宋体" pitchFamily="2" charset="-122"/>
              </a:rPr>
              <a:t>                细胞内</a:t>
            </a:r>
            <a:r>
              <a:rPr lang="en-US" altLang="zh-CN" b="1" dirty="0">
                <a:latin typeface="宋体" pitchFamily="2" charset="-122"/>
              </a:rPr>
              <a:t>K</a:t>
            </a:r>
            <a:r>
              <a:rPr lang="en-US" altLang="zh-CN" b="1" baseline="30000" dirty="0">
                <a:latin typeface="宋体" pitchFamily="2" charset="-122"/>
              </a:rPr>
              <a:t>+</a:t>
            </a:r>
            <a:r>
              <a:rPr lang="en-US" altLang="zh-CN" b="1" dirty="0">
                <a:latin typeface="宋体" pitchFamily="2" charset="-122"/>
              </a:rPr>
              <a:t>→</a:t>
            </a:r>
            <a:r>
              <a:rPr lang="zh-CN" altLang="en-US" b="1" dirty="0">
                <a:latin typeface="宋体" pitchFamily="2" charset="-122"/>
              </a:rPr>
              <a:t>细胞外</a:t>
            </a:r>
          </a:p>
          <a:p>
            <a:pPr algn="just">
              <a:spcBef>
                <a:spcPct val="50000"/>
              </a:spcBef>
            </a:pPr>
            <a:r>
              <a:rPr lang="zh-CN" altLang="en-US" b="1" dirty="0">
                <a:latin typeface="宋体" pitchFamily="2" charset="-122"/>
              </a:rPr>
              <a:t>                细胞外</a:t>
            </a:r>
            <a:r>
              <a:rPr lang="en-US" altLang="zh-CN" b="1" dirty="0">
                <a:latin typeface="宋体" pitchFamily="2" charset="-122"/>
              </a:rPr>
              <a:t>H</a:t>
            </a:r>
            <a:r>
              <a:rPr lang="en-US" altLang="zh-CN" b="1" baseline="30000" dirty="0">
                <a:latin typeface="宋体" pitchFamily="2" charset="-122"/>
              </a:rPr>
              <a:t>+</a:t>
            </a:r>
            <a:r>
              <a:rPr lang="en-US" altLang="zh-CN" b="1" dirty="0">
                <a:latin typeface="宋体" pitchFamily="2" charset="-122"/>
              </a:rPr>
              <a:t>→</a:t>
            </a:r>
            <a:r>
              <a:rPr lang="zh-CN" altLang="en-US" b="1" dirty="0">
                <a:latin typeface="宋体" pitchFamily="2" charset="-122"/>
              </a:rPr>
              <a:t>细胞内→</a:t>
            </a:r>
          </a:p>
          <a:p>
            <a:pPr algn="just">
              <a:spcBef>
                <a:spcPct val="50000"/>
              </a:spcBef>
            </a:pPr>
            <a:r>
              <a:rPr lang="zh-CN" altLang="en-US" b="1" dirty="0">
                <a:latin typeface="宋体" pitchFamily="2" charset="-122"/>
              </a:rPr>
              <a:t>                细胞外</a:t>
            </a:r>
            <a:r>
              <a:rPr lang="en-US" altLang="zh-CN" b="1" dirty="0">
                <a:latin typeface="宋体" pitchFamily="2" charset="-122"/>
              </a:rPr>
              <a:t>H</a:t>
            </a:r>
            <a:r>
              <a:rPr lang="en-US" altLang="zh-CN" b="1" baseline="30000" dirty="0">
                <a:latin typeface="宋体" pitchFamily="2" charset="-122"/>
              </a:rPr>
              <a:t>+</a:t>
            </a:r>
            <a:r>
              <a:rPr lang="en-US" altLang="zh-CN" b="1" dirty="0">
                <a:latin typeface="宋体" pitchFamily="2" charset="-122"/>
              </a:rPr>
              <a:t>↓</a:t>
            </a:r>
          </a:p>
          <a:p>
            <a:pPr algn="just">
              <a:spcBef>
                <a:spcPct val="50000"/>
              </a:spcBef>
            </a:pPr>
            <a:r>
              <a:rPr lang="en-US" altLang="zh-CN" b="1" dirty="0">
                <a:latin typeface="宋体" pitchFamily="2" charset="-122"/>
              </a:rPr>
              <a:t> </a:t>
            </a:r>
            <a:endParaRPr lang="en-US" altLang="zh-CN" dirty="0">
              <a:latin typeface="宋体" pitchFamily="2" charset="-122"/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524000" y="3946525"/>
            <a:ext cx="1066800" cy="1066800"/>
            <a:chOff x="1104" y="2400"/>
            <a:chExt cx="672" cy="672"/>
          </a:xfrm>
        </p:grpSpPr>
        <p:sp>
          <p:nvSpPr>
            <p:cNvPr id="26631" name="AutoShape 8"/>
            <p:cNvSpPr>
              <a:spLocks/>
            </p:cNvSpPr>
            <p:nvPr/>
          </p:nvSpPr>
          <p:spPr bwMode="auto">
            <a:xfrm>
              <a:off x="1632" y="2400"/>
              <a:ext cx="144" cy="672"/>
            </a:xfrm>
            <a:prstGeom prst="leftBrace">
              <a:avLst>
                <a:gd name="adj1" fmla="val 38889"/>
                <a:gd name="adj2" fmla="val 50000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2" name="Line 9"/>
            <p:cNvSpPr>
              <a:spLocks noChangeShapeType="1"/>
            </p:cNvSpPr>
            <p:nvPr/>
          </p:nvSpPr>
          <p:spPr bwMode="auto">
            <a:xfrm>
              <a:off x="1104" y="2736"/>
              <a:ext cx="33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5786446" y="5715016"/>
            <a:ext cx="2646878" cy="461665"/>
          </a:xfrm>
          <a:prstGeom prst="rect">
            <a:avLst/>
          </a:prstGeom>
          <a:solidFill>
            <a:srgbClr val="92D050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此时尿液酸碱性？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685800" y="1576402"/>
            <a:ext cx="81534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800" b="1" dirty="0">
                <a:latin typeface="宋体" pitchFamily="2" charset="-122"/>
              </a:rPr>
              <a:t>血清钾 </a:t>
            </a:r>
            <a:r>
              <a:rPr lang="en-US" altLang="zh-CN" sz="2800" b="1" dirty="0">
                <a:latin typeface="宋体" pitchFamily="2" charset="-122"/>
              </a:rPr>
              <a:t>&gt; 5.5mmol/L</a:t>
            </a:r>
          </a:p>
          <a:p>
            <a:endParaRPr lang="en-US" altLang="zh-CN" dirty="0"/>
          </a:p>
          <a:p>
            <a:r>
              <a:rPr lang="zh-CN" altLang="en-US" b="1" dirty="0" smtClean="0"/>
              <a:t> </a:t>
            </a:r>
            <a:r>
              <a:rPr lang="en-US" altLang="zh-CN" sz="2800" b="1" dirty="0" smtClean="0"/>
              <a:t>1</a:t>
            </a:r>
            <a:r>
              <a:rPr lang="en-US" altLang="zh-CN" sz="2800" b="1" dirty="0"/>
              <a:t>. </a:t>
            </a:r>
            <a:r>
              <a:rPr lang="zh-CN" altLang="en-US" sz="2800" b="1" dirty="0"/>
              <a:t>输钾过多过快</a:t>
            </a:r>
          </a:p>
          <a:p>
            <a:r>
              <a:rPr lang="zh-CN" altLang="en-US" sz="2800" b="1" dirty="0"/>
              <a:t> </a:t>
            </a:r>
            <a:r>
              <a:rPr lang="en-US" altLang="zh-CN" sz="2800" b="1" dirty="0"/>
              <a:t>2. </a:t>
            </a:r>
            <a:r>
              <a:rPr lang="zh-CN" altLang="en-US" sz="2800" b="1" dirty="0"/>
              <a:t>排钾过少 </a:t>
            </a:r>
            <a:r>
              <a:rPr lang="en-US" altLang="zh-CN" sz="2800" b="1" dirty="0"/>
              <a:t>---</a:t>
            </a:r>
            <a:r>
              <a:rPr lang="zh-CN" altLang="en-US" sz="2800" b="1" dirty="0"/>
              <a:t>经肾</a:t>
            </a:r>
          </a:p>
          <a:p>
            <a:r>
              <a:rPr lang="zh-CN" altLang="en-US" sz="2800" b="1" dirty="0"/>
              <a:t>     因</a:t>
            </a:r>
            <a:r>
              <a:rPr lang="zh-CN" altLang="en-US" sz="2800" b="1" dirty="0" smtClean="0"/>
              <a:t>∶</a:t>
            </a:r>
            <a:r>
              <a:rPr lang="en-US" altLang="zh-CN" sz="2800" b="1" dirty="0" smtClean="0"/>
              <a:t>GFR</a:t>
            </a:r>
            <a:r>
              <a:rPr lang="en-US" altLang="zh-CN" sz="2800" b="1" dirty="0" smtClean="0">
                <a:latin typeface="宋体" pitchFamily="2" charset="-122"/>
              </a:rPr>
              <a:t> ↓</a:t>
            </a:r>
            <a:endParaRPr lang="en-US" altLang="zh-CN" sz="2800" b="1" dirty="0" smtClean="0"/>
          </a:p>
          <a:p>
            <a:r>
              <a:rPr lang="en-US" altLang="zh-CN" sz="2800" b="1" dirty="0" smtClean="0">
                <a:sym typeface="Symbol" pitchFamily="18" charset="2"/>
              </a:rPr>
              <a:t>             </a:t>
            </a:r>
            <a:r>
              <a:rPr lang="zh-CN" altLang="en-US" sz="2800" b="1" dirty="0" smtClean="0">
                <a:sym typeface="Symbol" pitchFamily="18" charset="2"/>
              </a:rPr>
              <a:t>远端流速</a:t>
            </a:r>
            <a:r>
              <a:rPr lang="en-US" altLang="zh-CN" sz="2800" b="1" dirty="0" smtClean="0">
                <a:latin typeface="宋体" pitchFamily="2" charset="-122"/>
              </a:rPr>
              <a:t>↓ </a:t>
            </a:r>
            <a:r>
              <a:rPr lang="en-US" altLang="zh-CN" sz="2800" b="1" dirty="0" smtClean="0">
                <a:sym typeface="Symbol" pitchFamily="18" charset="2"/>
              </a:rPr>
              <a:t>---</a:t>
            </a:r>
            <a:r>
              <a:rPr lang="zh-CN" altLang="en-US" sz="2800" b="1" dirty="0" smtClean="0">
                <a:sym typeface="Symbol" pitchFamily="18" charset="2"/>
              </a:rPr>
              <a:t>肾功衰少尿期</a:t>
            </a:r>
            <a:endParaRPr lang="en-US" altLang="zh-CN" sz="2800" b="1" dirty="0" smtClean="0">
              <a:sym typeface="Symbol" pitchFamily="18" charset="2"/>
            </a:endParaRPr>
          </a:p>
          <a:p>
            <a:r>
              <a:rPr lang="en-US" altLang="zh-CN" sz="2800" b="1" dirty="0" smtClean="0">
                <a:sym typeface="Symbol" pitchFamily="18" charset="2"/>
              </a:rPr>
              <a:t>             </a:t>
            </a:r>
            <a:r>
              <a:rPr lang="zh-CN" altLang="en-US" sz="2800" b="1" dirty="0" smtClean="0"/>
              <a:t>肾</a:t>
            </a:r>
            <a:r>
              <a:rPr lang="zh-CN" altLang="en-US" sz="2800" b="1" dirty="0"/>
              <a:t>上腺皮质激</a:t>
            </a:r>
            <a:r>
              <a:rPr lang="zh-CN" altLang="en-US" sz="2800" b="1" dirty="0" smtClean="0"/>
              <a:t>素</a:t>
            </a:r>
            <a:r>
              <a:rPr lang="en-US" altLang="zh-CN" sz="2800" b="1" dirty="0" smtClean="0">
                <a:latin typeface="宋体" pitchFamily="2" charset="-122"/>
              </a:rPr>
              <a:t>↓</a:t>
            </a:r>
            <a:endParaRPr lang="zh-CN" altLang="en-US" sz="2800" b="1" dirty="0">
              <a:sym typeface="Symbol" pitchFamily="18" charset="2"/>
            </a:endParaRPr>
          </a:p>
          <a:p>
            <a:r>
              <a:rPr lang="zh-CN" altLang="en-US" sz="2800" b="1" dirty="0">
                <a:sym typeface="Symbol" pitchFamily="18" charset="2"/>
              </a:rPr>
              <a:t>             </a:t>
            </a:r>
            <a:r>
              <a:rPr lang="zh-CN" altLang="en-US" sz="2800" b="1" dirty="0" smtClean="0">
                <a:sym typeface="Symbol" pitchFamily="18" charset="2"/>
              </a:rPr>
              <a:t>保钾利尿剂长期使用</a:t>
            </a:r>
            <a:endParaRPr lang="zh-CN" altLang="en-US" sz="2800" b="1" dirty="0">
              <a:sym typeface="Symbol" pitchFamily="18" charset="2"/>
            </a:endParaRPr>
          </a:p>
          <a:p>
            <a:r>
              <a:rPr lang="zh-CN" altLang="en-US" sz="2800" b="1" dirty="0">
                <a:sym typeface="Symbol" pitchFamily="18" charset="2"/>
              </a:rPr>
              <a:t>             </a:t>
            </a:r>
            <a:r>
              <a:rPr lang="zh-CN" altLang="en-US" sz="2800" b="1" dirty="0" smtClean="0">
                <a:sym typeface="Symbol" pitchFamily="18" charset="2"/>
              </a:rPr>
              <a:t>酸</a:t>
            </a:r>
            <a:r>
              <a:rPr lang="zh-CN" altLang="en-US" sz="2800" b="1" dirty="0">
                <a:sym typeface="Symbol" pitchFamily="18" charset="2"/>
              </a:rPr>
              <a:t>中毒</a:t>
            </a:r>
          </a:p>
          <a:p>
            <a:r>
              <a:rPr lang="zh-CN" altLang="en-US" sz="2800" b="1" dirty="0">
                <a:sym typeface="Symbol" pitchFamily="18" charset="2"/>
              </a:rPr>
              <a:t> </a:t>
            </a:r>
            <a:r>
              <a:rPr lang="en-US" altLang="zh-CN" sz="2800" b="1" dirty="0">
                <a:sym typeface="Symbol" pitchFamily="18" charset="2"/>
              </a:rPr>
              <a:t>3.</a:t>
            </a:r>
            <a:r>
              <a:rPr lang="zh-CN" altLang="en-US" sz="2800" b="1" dirty="0">
                <a:sym typeface="Symbol" pitchFamily="18" charset="2"/>
              </a:rPr>
              <a:t>分布异常</a:t>
            </a:r>
            <a:r>
              <a:rPr lang="en-US" altLang="zh-CN" sz="2800" b="1" dirty="0">
                <a:sym typeface="Symbol" pitchFamily="18" charset="2"/>
              </a:rPr>
              <a:t>---</a:t>
            </a:r>
            <a:r>
              <a:rPr lang="zh-CN" altLang="en-US" sz="2800" b="1" dirty="0">
                <a:sym typeface="Symbol" pitchFamily="18" charset="2"/>
              </a:rPr>
              <a:t>因酸中毒、胰岛</a:t>
            </a:r>
            <a:r>
              <a:rPr lang="zh-CN" altLang="en-US" sz="2800" b="1" dirty="0" smtClean="0">
                <a:sym typeface="Symbol" pitchFamily="18" charset="2"/>
              </a:rPr>
              <a:t>素缺乏、肾上腺素能  </a:t>
            </a:r>
            <a:endParaRPr lang="en-US" altLang="zh-CN" sz="2800" b="1" dirty="0" smtClean="0">
              <a:sym typeface="Symbol" pitchFamily="18" charset="2"/>
            </a:endParaRPr>
          </a:p>
          <a:p>
            <a:r>
              <a:rPr lang="en-US" altLang="zh-CN" sz="2800" b="1" dirty="0" smtClean="0">
                <a:sym typeface="Symbol" pitchFamily="18" charset="2"/>
              </a:rPr>
              <a:t>                        </a:t>
            </a:r>
            <a:r>
              <a:rPr lang="el-GR" altLang="zh-CN" sz="2800" b="1" dirty="0" smtClean="0">
                <a:sym typeface="Symbol" pitchFamily="18" charset="2"/>
              </a:rPr>
              <a:t>β</a:t>
            </a:r>
            <a:r>
              <a:rPr lang="zh-CN" altLang="en-US" sz="2800" b="1" dirty="0" smtClean="0">
                <a:sym typeface="Symbol" pitchFamily="18" charset="2"/>
              </a:rPr>
              <a:t>受</a:t>
            </a:r>
            <a:r>
              <a:rPr lang="zh-CN" altLang="en-US" sz="2800" b="1" dirty="0">
                <a:sym typeface="Symbol" pitchFamily="18" charset="2"/>
              </a:rPr>
              <a:t>体</a:t>
            </a:r>
            <a:r>
              <a:rPr lang="zh-CN" altLang="en-US" sz="2800" b="1" dirty="0" smtClean="0">
                <a:sym typeface="Symbol" pitchFamily="18" charset="2"/>
              </a:rPr>
              <a:t>阻滞剂、 组织分解</a:t>
            </a:r>
            <a:endParaRPr lang="zh-CN" altLang="en-US" sz="2800" b="1" dirty="0">
              <a:sym typeface="Symbol" pitchFamily="18" charset="2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990600" y="642918"/>
            <a:ext cx="7296176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zh-CN" altLang="en-US" sz="45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高</a:t>
            </a:r>
            <a:r>
              <a:rPr kumimoji="0" lang="zh-CN" altLang="en-US" sz="45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钾血症</a:t>
            </a:r>
            <a:r>
              <a:rPr kumimoji="0" lang="zh-CN" altLang="en-US" sz="45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（</a:t>
            </a:r>
            <a:r>
              <a:rPr kumimoji="0" lang="en-US" altLang="zh-CN" sz="4500" dirty="0" err="1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hyperkalemia</a:t>
            </a:r>
            <a:r>
              <a:rPr kumimoji="0" lang="zh-CN" altLang="en-US" sz="45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771556" y="1357298"/>
            <a:ext cx="8229600" cy="3108543"/>
          </a:xfrm>
          <a:prstGeom prst="rect">
            <a:avLst/>
          </a:prstGeom>
          <a:noFill/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dirty="0" smtClean="0"/>
              <a:t>1.</a:t>
            </a:r>
            <a:r>
              <a:rPr lang="zh-CN" altLang="en-US" sz="2800" dirty="0" smtClean="0"/>
              <a:t> 心肌 </a:t>
            </a:r>
            <a:endParaRPr lang="zh-CN" altLang="en-US" sz="2800" dirty="0"/>
          </a:p>
          <a:p>
            <a:r>
              <a:rPr lang="zh-CN" altLang="en-US" sz="2800" dirty="0"/>
              <a:t>   兴奋</a:t>
            </a:r>
            <a:r>
              <a:rPr lang="zh-CN" altLang="en-US" sz="2800" dirty="0" smtClean="0"/>
              <a:t>性</a:t>
            </a:r>
            <a:r>
              <a:rPr lang="zh-CN" altLang="en-US" sz="2800" b="1" dirty="0" smtClean="0">
                <a:latin typeface="宋体" pitchFamily="2" charset="-122"/>
              </a:rPr>
              <a:t>↑</a:t>
            </a:r>
            <a:r>
              <a:rPr lang="zh-CN" altLang="en-US" sz="2800" dirty="0" smtClean="0">
                <a:sym typeface="Symbol" pitchFamily="18" charset="2"/>
              </a:rPr>
              <a:t> </a:t>
            </a:r>
            <a:r>
              <a:rPr lang="en-US" altLang="zh-CN" sz="2800" dirty="0">
                <a:sym typeface="Symbol" pitchFamily="18" charset="2"/>
              </a:rPr>
              <a:t>---</a:t>
            </a:r>
            <a:r>
              <a:rPr lang="zh-CN" altLang="en-US" sz="2800" dirty="0">
                <a:sym typeface="Symbol" pitchFamily="18" charset="2"/>
              </a:rPr>
              <a:t>因 </a:t>
            </a:r>
            <a:r>
              <a:rPr lang="en-US" altLang="zh-CN" sz="2800" dirty="0" smtClean="0">
                <a:sym typeface="Symbol" pitchFamily="18" charset="2"/>
              </a:rPr>
              <a:t>K</a:t>
            </a:r>
            <a:r>
              <a:rPr lang="en-US" altLang="zh-CN" sz="2800" baseline="30000" dirty="0" smtClean="0">
                <a:sym typeface="Symbol" pitchFamily="18" charset="2"/>
              </a:rPr>
              <a:t>+ </a:t>
            </a:r>
            <a:r>
              <a:rPr lang="en-US" altLang="zh-CN" sz="2800" dirty="0" smtClean="0">
                <a:sym typeface="Symbol" pitchFamily="18" charset="2"/>
              </a:rPr>
              <a:t>e </a:t>
            </a:r>
            <a:r>
              <a:rPr lang="en-US" altLang="zh-CN" sz="2800" dirty="0">
                <a:sym typeface="Symbol" pitchFamily="18" charset="2"/>
              </a:rPr>
              <a:t>/ </a:t>
            </a:r>
            <a:r>
              <a:rPr lang="en-US" altLang="zh-CN" sz="2800" dirty="0" smtClean="0">
                <a:sym typeface="Symbol" pitchFamily="18" charset="2"/>
              </a:rPr>
              <a:t> K</a:t>
            </a:r>
            <a:r>
              <a:rPr lang="en-US" altLang="zh-CN" sz="2800" baseline="30000" dirty="0" smtClean="0">
                <a:sym typeface="Symbol" pitchFamily="18" charset="2"/>
              </a:rPr>
              <a:t>+</a:t>
            </a:r>
            <a:r>
              <a:rPr lang="en-US" altLang="zh-CN" sz="2800" dirty="0" smtClean="0">
                <a:sym typeface="Symbol" pitchFamily="18" charset="2"/>
              </a:rPr>
              <a:t> i </a:t>
            </a:r>
            <a:r>
              <a:rPr lang="en-US" altLang="zh-CN" sz="2800" b="1" dirty="0" smtClean="0">
                <a:latin typeface="宋体" pitchFamily="2" charset="-122"/>
              </a:rPr>
              <a:t>↓↓</a:t>
            </a:r>
            <a:r>
              <a:rPr lang="en-US" altLang="zh-CN" sz="2800" dirty="0" smtClean="0">
                <a:sym typeface="Symbol" pitchFamily="18" charset="2"/>
              </a:rPr>
              <a:t>  RMP</a:t>
            </a:r>
            <a:r>
              <a:rPr lang="zh-CN" altLang="en-US" sz="2800" dirty="0" smtClean="0">
                <a:sym typeface="Symbol" pitchFamily="18" charset="2"/>
              </a:rPr>
              <a:t>绝对值</a:t>
            </a:r>
            <a:r>
              <a:rPr lang="en-US" altLang="zh-CN" sz="2800" b="1" dirty="0" smtClean="0">
                <a:latin typeface="宋体" pitchFamily="2" charset="-122"/>
              </a:rPr>
              <a:t>↓</a:t>
            </a:r>
            <a:r>
              <a:rPr lang="en-US" altLang="zh-CN" sz="2800" dirty="0" smtClean="0">
                <a:sym typeface="Symbol" pitchFamily="18" charset="2"/>
              </a:rPr>
              <a:t> </a:t>
            </a:r>
            <a:endParaRPr lang="en-US" altLang="zh-CN" sz="2800" dirty="0">
              <a:sym typeface="Symbol" pitchFamily="18" charset="2"/>
            </a:endParaRPr>
          </a:p>
          <a:p>
            <a:r>
              <a:rPr lang="en-US" altLang="zh-CN" sz="2800" dirty="0">
                <a:sym typeface="Symbol" pitchFamily="18" charset="2"/>
              </a:rPr>
              <a:t>   </a:t>
            </a:r>
            <a:r>
              <a:rPr lang="zh-CN" altLang="en-US" sz="2800" dirty="0">
                <a:sym typeface="Symbol" pitchFamily="18" charset="2"/>
              </a:rPr>
              <a:t>传导</a:t>
            </a:r>
            <a:r>
              <a:rPr lang="zh-CN" altLang="en-US" sz="2800" dirty="0" smtClean="0">
                <a:sym typeface="Symbol" pitchFamily="18" charset="2"/>
              </a:rPr>
              <a:t>性</a:t>
            </a:r>
            <a:r>
              <a:rPr lang="en-US" altLang="zh-CN" sz="2800" b="1" dirty="0" smtClean="0">
                <a:latin typeface="宋体" pitchFamily="2" charset="-122"/>
              </a:rPr>
              <a:t>↓</a:t>
            </a:r>
            <a:r>
              <a:rPr lang="zh-CN" altLang="en-US" sz="2800" dirty="0" smtClean="0">
                <a:sym typeface="Symbol" pitchFamily="18" charset="2"/>
              </a:rPr>
              <a:t> </a:t>
            </a:r>
            <a:r>
              <a:rPr lang="en-US" altLang="zh-CN" sz="2800" dirty="0">
                <a:sym typeface="Symbol" pitchFamily="18" charset="2"/>
              </a:rPr>
              <a:t>---</a:t>
            </a:r>
            <a:r>
              <a:rPr lang="zh-CN" altLang="en-US" sz="2800" dirty="0">
                <a:sym typeface="Symbol" pitchFamily="18" charset="2"/>
              </a:rPr>
              <a:t>因 </a:t>
            </a:r>
            <a:r>
              <a:rPr lang="en-US" altLang="zh-CN" sz="2800" dirty="0" smtClean="0">
                <a:sym typeface="Symbol" pitchFamily="18" charset="2"/>
              </a:rPr>
              <a:t>RMP</a:t>
            </a:r>
            <a:r>
              <a:rPr lang="zh-CN" altLang="en-US" sz="2800" dirty="0" smtClean="0">
                <a:sym typeface="Symbol" pitchFamily="18" charset="2"/>
              </a:rPr>
              <a:t>绝对值</a:t>
            </a:r>
            <a:r>
              <a:rPr lang="en-US" altLang="zh-CN" sz="2800" b="1" dirty="0" smtClean="0">
                <a:latin typeface="宋体" pitchFamily="2" charset="-122"/>
              </a:rPr>
              <a:t>↓</a:t>
            </a:r>
            <a:r>
              <a:rPr lang="zh-CN" altLang="en-US" sz="2800" dirty="0" smtClean="0">
                <a:sym typeface="Symbol" pitchFamily="18" charset="2"/>
              </a:rPr>
              <a:t>去</a:t>
            </a:r>
            <a:r>
              <a:rPr lang="zh-CN" altLang="en-US" sz="2800" dirty="0">
                <a:sym typeface="Symbol" pitchFamily="18" charset="2"/>
              </a:rPr>
              <a:t>极化减慢</a:t>
            </a:r>
          </a:p>
          <a:p>
            <a:r>
              <a:rPr lang="zh-CN" altLang="en-US" sz="2800" dirty="0">
                <a:sym typeface="Symbol" pitchFamily="18" charset="2"/>
              </a:rPr>
              <a:t>   自律</a:t>
            </a:r>
            <a:r>
              <a:rPr lang="zh-CN" altLang="en-US" sz="2800" dirty="0" smtClean="0">
                <a:sym typeface="Symbol" pitchFamily="18" charset="2"/>
              </a:rPr>
              <a:t>性</a:t>
            </a:r>
            <a:r>
              <a:rPr lang="en-US" altLang="zh-CN" sz="2800" b="1" dirty="0" smtClean="0">
                <a:latin typeface="宋体" pitchFamily="2" charset="-122"/>
              </a:rPr>
              <a:t>↓</a:t>
            </a:r>
            <a:r>
              <a:rPr lang="zh-CN" altLang="en-US" sz="2800" dirty="0" smtClean="0">
                <a:sym typeface="Symbol" pitchFamily="18" charset="2"/>
              </a:rPr>
              <a:t> </a:t>
            </a:r>
            <a:r>
              <a:rPr lang="en-US" altLang="zh-CN" sz="2800" dirty="0">
                <a:sym typeface="Symbol" pitchFamily="18" charset="2"/>
              </a:rPr>
              <a:t>---</a:t>
            </a:r>
            <a:r>
              <a:rPr lang="zh-CN" altLang="en-US" sz="2800" dirty="0">
                <a:sym typeface="Symbol" pitchFamily="18" charset="2"/>
              </a:rPr>
              <a:t>因</a:t>
            </a:r>
            <a:r>
              <a:rPr lang="en-US" altLang="zh-CN" sz="2800" dirty="0">
                <a:sym typeface="Symbol" pitchFamily="18" charset="2"/>
              </a:rPr>
              <a:t>K</a:t>
            </a:r>
            <a:r>
              <a:rPr lang="en-US" altLang="zh-CN" sz="2800" baseline="30000" dirty="0">
                <a:sym typeface="Symbol" pitchFamily="18" charset="2"/>
              </a:rPr>
              <a:t>+</a:t>
            </a:r>
            <a:r>
              <a:rPr lang="zh-CN" altLang="en-US" sz="2800" dirty="0">
                <a:sym typeface="Symbol" pitchFamily="18" charset="2"/>
              </a:rPr>
              <a:t>通透</a:t>
            </a:r>
            <a:r>
              <a:rPr lang="zh-CN" altLang="en-US" sz="2800" dirty="0" smtClean="0">
                <a:sym typeface="Symbol" pitchFamily="18" charset="2"/>
              </a:rPr>
              <a:t>性</a:t>
            </a:r>
            <a:r>
              <a:rPr lang="zh-CN" altLang="en-US" sz="2800" b="1" dirty="0" smtClean="0">
                <a:latin typeface="宋体" pitchFamily="2" charset="-122"/>
              </a:rPr>
              <a:t>↑↑ </a:t>
            </a:r>
            <a:r>
              <a:rPr lang="en-US" altLang="zh-CN" sz="2800" dirty="0" smtClean="0">
                <a:sym typeface="Symbol" pitchFamily="18" charset="2"/>
              </a:rPr>
              <a:t>4</a:t>
            </a:r>
            <a:r>
              <a:rPr lang="zh-CN" altLang="en-US" sz="2800" dirty="0">
                <a:sym typeface="Symbol" pitchFamily="18" charset="2"/>
              </a:rPr>
              <a:t>相去极化减慢</a:t>
            </a:r>
          </a:p>
          <a:p>
            <a:r>
              <a:rPr lang="zh-CN" altLang="en-US" sz="2800" dirty="0">
                <a:sym typeface="Symbol" pitchFamily="18" charset="2"/>
              </a:rPr>
              <a:t>   收缩</a:t>
            </a:r>
            <a:r>
              <a:rPr lang="zh-CN" altLang="en-US" sz="2800" dirty="0" smtClean="0">
                <a:sym typeface="Symbol" pitchFamily="18" charset="2"/>
              </a:rPr>
              <a:t>性</a:t>
            </a:r>
            <a:r>
              <a:rPr lang="en-US" altLang="zh-CN" sz="2800" b="1" dirty="0" smtClean="0">
                <a:latin typeface="宋体" pitchFamily="2" charset="-122"/>
              </a:rPr>
              <a:t>↓</a:t>
            </a:r>
            <a:r>
              <a:rPr lang="zh-CN" altLang="en-US" sz="2800" dirty="0" smtClean="0">
                <a:sym typeface="Symbol" pitchFamily="18" charset="2"/>
              </a:rPr>
              <a:t> </a:t>
            </a:r>
            <a:r>
              <a:rPr lang="en-US" altLang="zh-CN" sz="2800" dirty="0">
                <a:sym typeface="Symbol" pitchFamily="18" charset="2"/>
              </a:rPr>
              <a:t>---</a:t>
            </a:r>
            <a:r>
              <a:rPr lang="zh-CN" altLang="en-US" sz="2800" dirty="0">
                <a:sym typeface="Symbol" pitchFamily="18" charset="2"/>
              </a:rPr>
              <a:t>因</a:t>
            </a:r>
            <a:r>
              <a:rPr lang="en-US" altLang="zh-CN" sz="2800" dirty="0">
                <a:sym typeface="Symbol" pitchFamily="18" charset="2"/>
              </a:rPr>
              <a:t>Ca</a:t>
            </a:r>
            <a:r>
              <a:rPr lang="en-US" altLang="zh-CN" sz="2800" baseline="30000" dirty="0">
                <a:sym typeface="Symbol" pitchFamily="18" charset="2"/>
              </a:rPr>
              <a:t>2+</a:t>
            </a:r>
            <a:r>
              <a:rPr lang="zh-CN" altLang="en-US" sz="2800" dirty="0">
                <a:sym typeface="Symbol" pitchFamily="18" charset="2"/>
              </a:rPr>
              <a:t>内</a:t>
            </a:r>
            <a:r>
              <a:rPr lang="zh-CN" altLang="en-US" sz="2800" dirty="0" smtClean="0">
                <a:sym typeface="Symbol" pitchFamily="18" charset="2"/>
              </a:rPr>
              <a:t>流</a:t>
            </a:r>
            <a:r>
              <a:rPr lang="en-US" altLang="zh-CN" sz="2800" b="1" dirty="0" smtClean="0">
                <a:latin typeface="宋体" pitchFamily="2" charset="-122"/>
              </a:rPr>
              <a:t>↓</a:t>
            </a:r>
            <a:endParaRPr lang="zh-CN" altLang="en-US" sz="2800" dirty="0">
              <a:sym typeface="Symbol" pitchFamily="18" charset="2"/>
            </a:endParaRPr>
          </a:p>
          <a:p>
            <a:r>
              <a:rPr lang="zh-CN" altLang="en-US" sz="2800" dirty="0">
                <a:sym typeface="Symbol" pitchFamily="18" charset="2"/>
              </a:rPr>
              <a:t>   </a:t>
            </a:r>
          </a:p>
          <a:p>
            <a:endParaRPr lang="en-US" altLang="zh-CN" sz="2800" dirty="0">
              <a:sym typeface="Symbol" pitchFamily="18" charset="2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928662" y="428604"/>
            <a:ext cx="79248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0" lang="zh-CN" altLang="en-US" sz="45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高钾血症</a:t>
            </a:r>
            <a:r>
              <a:rPr kumimoji="0" lang="zh-CN" altLang="en-US" sz="45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对机体的影响</a:t>
            </a:r>
          </a:p>
          <a:p>
            <a:pPr>
              <a:spcBef>
                <a:spcPct val="50000"/>
              </a:spcBef>
            </a:pPr>
            <a:endParaRPr lang="en-US" altLang="zh-CN" sz="3000" b="1" dirty="0">
              <a:latin typeface="宋体" pitchFamily="2" charset="-122"/>
            </a:endParaRPr>
          </a:p>
        </p:txBody>
      </p:sp>
      <p:sp>
        <p:nvSpPr>
          <p:cNvPr id="4" name="双括号 3"/>
          <p:cNvSpPr/>
          <p:nvPr/>
        </p:nvSpPr>
        <p:spPr>
          <a:xfrm>
            <a:off x="3357554" y="1857364"/>
            <a:ext cx="500066" cy="35719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双括号 5"/>
          <p:cNvSpPr/>
          <p:nvPr/>
        </p:nvSpPr>
        <p:spPr>
          <a:xfrm>
            <a:off x="4309694" y="1869087"/>
            <a:ext cx="500066" cy="35719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E:\05\ji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圆角矩形 2"/>
          <p:cNvSpPr/>
          <p:nvPr/>
        </p:nvSpPr>
        <p:spPr>
          <a:xfrm>
            <a:off x="6429388" y="1285860"/>
            <a:ext cx="1428760" cy="171451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868144" y="2996952"/>
            <a:ext cx="2682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b="1" dirty="0" smtClean="0"/>
              <a:t>3</a:t>
            </a:r>
            <a:r>
              <a:rPr lang="zh-CN" altLang="en-US" sz="1800" b="1" dirty="0" smtClean="0"/>
              <a:t>期缩短</a:t>
            </a:r>
            <a:r>
              <a:rPr lang="en-US" altLang="zh-CN" sz="1800" b="1" dirty="0" smtClean="0"/>
              <a:t>,</a:t>
            </a:r>
            <a:r>
              <a:rPr lang="zh-CN" altLang="en-US" sz="1800" b="1" dirty="0" smtClean="0"/>
              <a:t>有效不应期缩短</a:t>
            </a:r>
            <a:endParaRPr lang="zh-CN" alt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928662" y="428604"/>
            <a:ext cx="79248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0" lang="zh-CN" altLang="en-US" sz="45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高钾血症</a:t>
            </a:r>
            <a:r>
              <a:rPr kumimoji="0" lang="zh-CN" altLang="en-US" sz="45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对机体的影响</a:t>
            </a:r>
          </a:p>
          <a:p>
            <a:pPr>
              <a:spcBef>
                <a:spcPct val="50000"/>
              </a:spcBef>
            </a:pPr>
            <a:endParaRPr lang="en-US" altLang="zh-CN" sz="3000" b="1" dirty="0">
              <a:latin typeface="宋体" pitchFamily="2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857356" y="4214818"/>
            <a:ext cx="5429288" cy="1071570"/>
          </a:xfrm>
          <a:prstGeom prst="roundRect">
            <a:avLst/>
          </a:prstGeom>
          <a:gradFill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285984" y="4455391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宋体" pitchFamily="2" charset="-122"/>
              </a:rPr>
              <a:t>心律失常：室颤，心脏骤停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771556" y="1357298"/>
            <a:ext cx="8229600" cy="3108543"/>
          </a:xfrm>
          <a:prstGeom prst="rect">
            <a:avLst/>
          </a:prstGeom>
          <a:noFill/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dirty="0" smtClean="0"/>
              <a:t>1.</a:t>
            </a:r>
            <a:r>
              <a:rPr lang="zh-CN" altLang="en-US" sz="2800" dirty="0" smtClean="0"/>
              <a:t> 心肌 </a:t>
            </a:r>
            <a:endParaRPr lang="zh-CN" altLang="en-US" sz="2800" dirty="0"/>
          </a:p>
          <a:p>
            <a:r>
              <a:rPr lang="zh-CN" altLang="en-US" sz="2800" dirty="0"/>
              <a:t>   兴奋</a:t>
            </a:r>
            <a:r>
              <a:rPr lang="zh-CN" altLang="en-US" sz="2800" dirty="0" smtClean="0"/>
              <a:t>性</a:t>
            </a:r>
            <a:r>
              <a:rPr lang="zh-CN" altLang="en-US" sz="2800" b="1" dirty="0" smtClean="0">
                <a:latin typeface="宋体" pitchFamily="2" charset="-122"/>
              </a:rPr>
              <a:t>↑</a:t>
            </a:r>
            <a:r>
              <a:rPr lang="zh-CN" altLang="en-US" sz="2800" dirty="0" smtClean="0">
                <a:sym typeface="Symbol" pitchFamily="18" charset="2"/>
              </a:rPr>
              <a:t> </a:t>
            </a:r>
            <a:r>
              <a:rPr lang="en-US" altLang="zh-CN" sz="2800" dirty="0">
                <a:sym typeface="Symbol" pitchFamily="18" charset="2"/>
              </a:rPr>
              <a:t>---</a:t>
            </a:r>
            <a:r>
              <a:rPr lang="zh-CN" altLang="en-US" sz="2800" dirty="0">
                <a:sym typeface="Symbol" pitchFamily="18" charset="2"/>
              </a:rPr>
              <a:t>因 </a:t>
            </a:r>
            <a:r>
              <a:rPr lang="en-US" altLang="zh-CN" sz="2800" dirty="0" smtClean="0">
                <a:sym typeface="Symbol" pitchFamily="18" charset="2"/>
              </a:rPr>
              <a:t>K</a:t>
            </a:r>
            <a:r>
              <a:rPr lang="en-US" altLang="zh-CN" sz="2800" baseline="30000" dirty="0" smtClean="0">
                <a:sym typeface="Symbol" pitchFamily="18" charset="2"/>
              </a:rPr>
              <a:t>+ </a:t>
            </a:r>
            <a:r>
              <a:rPr lang="en-US" altLang="zh-CN" sz="2800" dirty="0" smtClean="0">
                <a:sym typeface="Symbol" pitchFamily="18" charset="2"/>
              </a:rPr>
              <a:t>e </a:t>
            </a:r>
            <a:r>
              <a:rPr lang="en-US" altLang="zh-CN" sz="2800" dirty="0">
                <a:sym typeface="Symbol" pitchFamily="18" charset="2"/>
              </a:rPr>
              <a:t>/ </a:t>
            </a:r>
            <a:r>
              <a:rPr lang="en-US" altLang="zh-CN" sz="2800" dirty="0" smtClean="0">
                <a:sym typeface="Symbol" pitchFamily="18" charset="2"/>
              </a:rPr>
              <a:t> K</a:t>
            </a:r>
            <a:r>
              <a:rPr lang="en-US" altLang="zh-CN" sz="2800" baseline="30000" dirty="0" smtClean="0">
                <a:sym typeface="Symbol" pitchFamily="18" charset="2"/>
              </a:rPr>
              <a:t>+</a:t>
            </a:r>
            <a:r>
              <a:rPr lang="en-US" altLang="zh-CN" sz="2800" dirty="0" smtClean="0">
                <a:sym typeface="Symbol" pitchFamily="18" charset="2"/>
              </a:rPr>
              <a:t> i </a:t>
            </a:r>
            <a:r>
              <a:rPr lang="en-US" altLang="zh-CN" sz="2800" b="1" dirty="0" smtClean="0">
                <a:latin typeface="宋体" pitchFamily="2" charset="-122"/>
              </a:rPr>
              <a:t>↓↓</a:t>
            </a:r>
            <a:r>
              <a:rPr lang="en-US" altLang="zh-CN" sz="2800" dirty="0" smtClean="0">
                <a:sym typeface="Symbol" pitchFamily="18" charset="2"/>
              </a:rPr>
              <a:t>  RMP</a:t>
            </a:r>
            <a:r>
              <a:rPr lang="zh-CN" altLang="en-US" sz="2800" dirty="0" smtClean="0">
                <a:sym typeface="Symbol" pitchFamily="18" charset="2"/>
              </a:rPr>
              <a:t>绝对值</a:t>
            </a:r>
            <a:r>
              <a:rPr lang="en-US" altLang="zh-CN" sz="2800" b="1" dirty="0" smtClean="0">
                <a:latin typeface="宋体" pitchFamily="2" charset="-122"/>
              </a:rPr>
              <a:t>↓</a:t>
            </a:r>
            <a:r>
              <a:rPr lang="en-US" altLang="zh-CN" sz="2800" dirty="0" smtClean="0">
                <a:sym typeface="Symbol" pitchFamily="18" charset="2"/>
              </a:rPr>
              <a:t> </a:t>
            </a:r>
            <a:endParaRPr lang="en-US" altLang="zh-CN" sz="2800" dirty="0">
              <a:sym typeface="Symbol" pitchFamily="18" charset="2"/>
            </a:endParaRPr>
          </a:p>
          <a:p>
            <a:r>
              <a:rPr lang="en-US" altLang="zh-CN" sz="2800" dirty="0">
                <a:sym typeface="Symbol" pitchFamily="18" charset="2"/>
              </a:rPr>
              <a:t>   </a:t>
            </a:r>
            <a:r>
              <a:rPr lang="zh-CN" altLang="en-US" sz="2800" dirty="0">
                <a:sym typeface="Symbol" pitchFamily="18" charset="2"/>
              </a:rPr>
              <a:t>传导</a:t>
            </a:r>
            <a:r>
              <a:rPr lang="zh-CN" altLang="en-US" sz="2800" dirty="0" smtClean="0">
                <a:sym typeface="Symbol" pitchFamily="18" charset="2"/>
              </a:rPr>
              <a:t>性</a:t>
            </a:r>
            <a:r>
              <a:rPr lang="en-US" altLang="zh-CN" sz="2800" b="1" dirty="0" smtClean="0">
                <a:latin typeface="宋体" pitchFamily="2" charset="-122"/>
              </a:rPr>
              <a:t>↓</a:t>
            </a:r>
            <a:r>
              <a:rPr lang="zh-CN" altLang="en-US" sz="2800" dirty="0" smtClean="0">
                <a:sym typeface="Symbol" pitchFamily="18" charset="2"/>
              </a:rPr>
              <a:t> </a:t>
            </a:r>
            <a:r>
              <a:rPr lang="en-US" altLang="zh-CN" sz="2800" dirty="0">
                <a:sym typeface="Symbol" pitchFamily="18" charset="2"/>
              </a:rPr>
              <a:t>---</a:t>
            </a:r>
            <a:r>
              <a:rPr lang="zh-CN" altLang="en-US" sz="2800" dirty="0">
                <a:sym typeface="Symbol" pitchFamily="18" charset="2"/>
              </a:rPr>
              <a:t>因 </a:t>
            </a:r>
            <a:r>
              <a:rPr lang="en-US" altLang="zh-CN" sz="2800" dirty="0" smtClean="0">
                <a:sym typeface="Symbol" pitchFamily="18" charset="2"/>
              </a:rPr>
              <a:t>RMP</a:t>
            </a:r>
            <a:r>
              <a:rPr lang="zh-CN" altLang="en-US" sz="2800" dirty="0" smtClean="0">
                <a:sym typeface="Symbol" pitchFamily="18" charset="2"/>
              </a:rPr>
              <a:t>绝对值</a:t>
            </a:r>
            <a:r>
              <a:rPr lang="en-US" altLang="zh-CN" sz="2800" b="1" dirty="0" smtClean="0">
                <a:latin typeface="宋体" pitchFamily="2" charset="-122"/>
              </a:rPr>
              <a:t>↓</a:t>
            </a:r>
            <a:r>
              <a:rPr lang="zh-CN" altLang="en-US" sz="2800" dirty="0" smtClean="0">
                <a:sym typeface="Symbol" pitchFamily="18" charset="2"/>
              </a:rPr>
              <a:t>去</a:t>
            </a:r>
            <a:r>
              <a:rPr lang="zh-CN" altLang="en-US" sz="2800" dirty="0">
                <a:sym typeface="Symbol" pitchFamily="18" charset="2"/>
              </a:rPr>
              <a:t>极化减慢</a:t>
            </a:r>
          </a:p>
          <a:p>
            <a:r>
              <a:rPr lang="zh-CN" altLang="en-US" sz="2800" dirty="0">
                <a:sym typeface="Symbol" pitchFamily="18" charset="2"/>
              </a:rPr>
              <a:t>   自律</a:t>
            </a:r>
            <a:r>
              <a:rPr lang="zh-CN" altLang="en-US" sz="2800" dirty="0" smtClean="0">
                <a:sym typeface="Symbol" pitchFamily="18" charset="2"/>
              </a:rPr>
              <a:t>性</a:t>
            </a:r>
            <a:r>
              <a:rPr lang="en-US" altLang="zh-CN" sz="2800" b="1" dirty="0" smtClean="0">
                <a:latin typeface="宋体" pitchFamily="2" charset="-122"/>
              </a:rPr>
              <a:t>↓</a:t>
            </a:r>
            <a:r>
              <a:rPr lang="zh-CN" altLang="en-US" sz="2800" dirty="0" smtClean="0">
                <a:sym typeface="Symbol" pitchFamily="18" charset="2"/>
              </a:rPr>
              <a:t> </a:t>
            </a:r>
            <a:r>
              <a:rPr lang="en-US" altLang="zh-CN" sz="2800" dirty="0">
                <a:sym typeface="Symbol" pitchFamily="18" charset="2"/>
              </a:rPr>
              <a:t>---</a:t>
            </a:r>
            <a:r>
              <a:rPr lang="zh-CN" altLang="en-US" sz="2800" dirty="0">
                <a:sym typeface="Symbol" pitchFamily="18" charset="2"/>
              </a:rPr>
              <a:t>因</a:t>
            </a:r>
            <a:r>
              <a:rPr lang="en-US" altLang="zh-CN" sz="2800" dirty="0">
                <a:sym typeface="Symbol" pitchFamily="18" charset="2"/>
              </a:rPr>
              <a:t>K</a:t>
            </a:r>
            <a:r>
              <a:rPr lang="en-US" altLang="zh-CN" sz="2800" baseline="30000" dirty="0">
                <a:sym typeface="Symbol" pitchFamily="18" charset="2"/>
              </a:rPr>
              <a:t>+</a:t>
            </a:r>
            <a:r>
              <a:rPr lang="zh-CN" altLang="en-US" sz="2800" dirty="0">
                <a:sym typeface="Symbol" pitchFamily="18" charset="2"/>
              </a:rPr>
              <a:t>通透</a:t>
            </a:r>
            <a:r>
              <a:rPr lang="zh-CN" altLang="en-US" sz="2800" dirty="0" smtClean="0">
                <a:sym typeface="Symbol" pitchFamily="18" charset="2"/>
              </a:rPr>
              <a:t>性</a:t>
            </a:r>
            <a:r>
              <a:rPr lang="zh-CN" altLang="en-US" sz="2800" b="1" dirty="0" smtClean="0">
                <a:latin typeface="宋体" pitchFamily="2" charset="-122"/>
              </a:rPr>
              <a:t>↑↑ </a:t>
            </a:r>
            <a:r>
              <a:rPr lang="en-US" altLang="zh-CN" sz="2800" dirty="0" smtClean="0">
                <a:sym typeface="Symbol" pitchFamily="18" charset="2"/>
              </a:rPr>
              <a:t>4</a:t>
            </a:r>
            <a:r>
              <a:rPr lang="zh-CN" altLang="en-US" sz="2800" dirty="0">
                <a:sym typeface="Symbol" pitchFamily="18" charset="2"/>
              </a:rPr>
              <a:t>相去极化减慢</a:t>
            </a:r>
          </a:p>
          <a:p>
            <a:r>
              <a:rPr lang="zh-CN" altLang="en-US" sz="2800" dirty="0">
                <a:sym typeface="Symbol" pitchFamily="18" charset="2"/>
              </a:rPr>
              <a:t>   收缩</a:t>
            </a:r>
            <a:r>
              <a:rPr lang="zh-CN" altLang="en-US" sz="2800" dirty="0" smtClean="0">
                <a:sym typeface="Symbol" pitchFamily="18" charset="2"/>
              </a:rPr>
              <a:t>性</a:t>
            </a:r>
            <a:r>
              <a:rPr lang="en-US" altLang="zh-CN" sz="2800" b="1" dirty="0" smtClean="0">
                <a:latin typeface="宋体" pitchFamily="2" charset="-122"/>
              </a:rPr>
              <a:t>↓</a:t>
            </a:r>
            <a:r>
              <a:rPr lang="zh-CN" altLang="en-US" sz="2800" dirty="0" smtClean="0">
                <a:sym typeface="Symbol" pitchFamily="18" charset="2"/>
              </a:rPr>
              <a:t> </a:t>
            </a:r>
            <a:r>
              <a:rPr lang="en-US" altLang="zh-CN" sz="2800" dirty="0">
                <a:sym typeface="Symbol" pitchFamily="18" charset="2"/>
              </a:rPr>
              <a:t>---</a:t>
            </a:r>
            <a:r>
              <a:rPr lang="zh-CN" altLang="en-US" sz="2800" dirty="0">
                <a:sym typeface="Symbol" pitchFamily="18" charset="2"/>
              </a:rPr>
              <a:t>因</a:t>
            </a:r>
            <a:r>
              <a:rPr lang="en-US" altLang="zh-CN" sz="2800" dirty="0">
                <a:sym typeface="Symbol" pitchFamily="18" charset="2"/>
              </a:rPr>
              <a:t>Ca</a:t>
            </a:r>
            <a:r>
              <a:rPr lang="en-US" altLang="zh-CN" sz="2800" baseline="30000" dirty="0">
                <a:sym typeface="Symbol" pitchFamily="18" charset="2"/>
              </a:rPr>
              <a:t>2+</a:t>
            </a:r>
            <a:r>
              <a:rPr lang="zh-CN" altLang="en-US" sz="2800" dirty="0">
                <a:sym typeface="Symbol" pitchFamily="18" charset="2"/>
              </a:rPr>
              <a:t>内</a:t>
            </a:r>
            <a:r>
              <a:rPr lang="zh-CN" altLang="en-US" sz="2800" dirty="0" smtClean="0">
                <a:sym typeface="Symbol" pitchFamily="18" charset="2"/>
              </a:rPr>
              <a:t>流</a:t>
            </a:r>
            <a:r>
              <a:rPr lang="en-US" altLang="zh-CN" sz="2800" b="1" dirty="0" smtClean="0">
                <a:latin typeface="宋体" pitchFamily="2" charset="-122"/>
              </a:rPr>
              <a:t>↓</a:t>
            </a:r>
            <a:endParaRPr lang="zh-CN" altLang="en-US" sz="2800" dirty="0">
              <a:sym typeface="Symbol" pitchFamily="18" charset="2"/>
            </a:endParaRPr>
          </a:p>
          <a:p>
            <a:r>
              <a:rPr lang="zh-CN" altLang="en-US" sz="2800" dirty="0">
                <a:sym typeface="Symbol" pitchFamily="18" charset="2"/>
              </a:rPr>
              <a:t>   </a:t>
            </a:r>
          </a:p>
          <a:p>
            <a:endParaRPr lang="en-US" altLang="zh-CN" sz="280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0" name="Picture 4" descr="单向传导阻滞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60486" y="1678008"/>
            <a:ext cx="6769100" cy="4394198"/>
          </a:xfrm>
          <a:noFill/>
          <a:ln/>
        </p:spPr>
      </p:pic>
      <p:sp>
        <p:nvSpPr>
          <p:cNvPr id="4" name="矩形 3"/>
          <p:cNvSpPr/>
          <p:nvPr/>
        </p:nvSpPr>
        <p:spPr>
          <a:xfrm>
            <a:off x="1500166" y="857232"/>
            <a:ext cx="6215106" cy="523220"/>
          </a:xfrm>
          <a:prstGeom prst="rect">
            <a:avLst/>
          </a:prstGeom>
          <a:gradFill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ym typeface="Symbol" pitchFamily="18" charset="2"/>
              </a:rPr>
              <a:t>不应期短 </a:t>
            </a:r>
            <a:r>
              <a:rPr lang="en-US" altLang="zh-CN" sz="2800" b="1" dirty="0" smtClean="0">
                <a:sym typeface="Symbol" pitchFamily="18" charset="2"/>
              </a:rPr>
              <a:t>+</a:t>
            </a:r>
            <a:r>
              <a:rPr lang="zh-CN" altLang="en-US" sz="2800" b="1" dirty="0" smtClean="0">
                <a:sym typeface="Symbol" pitchFamily="18" charset="2"/>
              </a:rPr>
              <a:t>单向传导阻滞      兴奋折返</a:t>
            </a:r>
            <a:endParaRPr lang="zh-CN" altLang="en-US" sz="2800" b="1" dirty="0">
              <a:sym typeface="Symbol" pitchFamily="18" charset="2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5500694" y="1024654"/>
            <a:ext cx="428628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0100" y="1857364"/>
            <a:ext cx="5429288" cy="564826"/>
          </a:xfrm>
        </p:spPr>
        <p:txBody>
          <a:bodyPr>
            <a:normAutofit/>
          </a:bodyPr>
          <a:lstStyle/>
          <a:p>
            <a:r>
              <a:rPr lang="zh-CN" altLang="en-US" sz="2800" dirty="0" smtClean="0">
                <a:sym typeface="Symbol" pitchFamily="18" charset="2"/>
              </a:rPr>
              <a:t>兴奋性先轻度增高后无法兴奋 </a:t>
            </a:r>
          </a:p>
          <a:p>
            <a:endParaRPr lang="zh-CN" altLang="en-US" sz="2800" dirty="0"/>
          </a:p>
        </p:txBody>
      </p:sp>
      <p:sp>
        <p:nvSpPr>
          <p:cNvPr id="4" name="矩形 3"/>
          <p:cNvSpPr/>
          <p:nvPr/>
        </p:nvSpPr>
        <p:spPr>
          <a:xfrm>
            <a:off x="785786" y="1071546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</a:rPr>
              <a:t>2.</a:t>
            </a:r>
            <a:r>
              <a:rPr lang="zh-CN" altLang="en-US" sz="2800" b="1" dirty="0" smtClean="0">
                <a:sym typeface="Symbol" pitchFamily="18" charset="2"/>
              </a:rPr>
              <a:t>骨骼</a:t>
            </a:r>
            <a:r>
              <a:rPr lang="zh-CN" altLang="en-US" sz="2800" b="1" dirty="0" smtClean="0">
                <a:solidFill>
                  <a:prstClr val="black"/>
                </a:solidFill>
              </a:rPr>
              <a:t>肌</a:t>
            </a:r>
            <a:r>
              <a:rPr lang="zh-CN" altLang="en-US" sz="2800" dirty="0" smtClean="0">
                <a:solidFill>
                  <a:prstClr val="black"/>
                </a:solidFill>
              </a:rPr>
              <a:t> </a:t>
            </a:r>
            <a:endParaRPr lang="zh-CN" altLang="en-US" sz="2800" dirty="0">
              <a:solidFill>
                <a:prstClr val="black"/>
              </a:solidFill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785786" y="2703016"/>
            <a:ext cx="6858048" cy="3662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latin typeface="+mn-ea"/>
                <a:ea typeface="+mn-ea"/>
              </a:rPr>
              <a:t>3.</a:t>
            </a:r>
            <a:r>
              <a:rPr lang="zh-CN" altLang="en-US" sz="2800" b="1" dirty="0" smtClean="0">
                <a:latin typeface="+mn-ea"/>
                <a:ea typeface="+mn-ea"/>
              </a:rPr>
              <a:t>代谢性酸中毒</a:t>
            </a:r>
            <a:endParaRPr lang="zh-CN" altLang="en-US" sz="2800" b="1" dirty="0">
              <a:latin typeface="+mn-ea"/>
              <a:ea typeface="+mn-ea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+mn-ea"/>
                <a:ea typeface="+mn-ea"/>
              </a:rPr>
              <a:t>    </a:t>
            </a:r>
            <a:r>
              <a:rPr lang="zh-CN" altLang="en-US" sz="2800" dirty="0" smtClean="0">
                <a:latin typeface="+mn-ea"/>
                <a:ea typeface="+mn-ea"/>
              </a:rPr>
              <a:t>细胞</a:t>
            </a:r>
            <a:r>
              <a:rPr lang="zh-CN" altLang="en-US" sz="2800" dirty="0">
                <a:latin typeface="+mn-ea"/>
                <a:ea typeface="+mn-ea"/>
              </a:rPr>
              <a:t>外</a:t>
            </a:r>
            <a:r>
              <a:rPr lang="en-US" altLang="zh-CN" sz="2800" dirty="0">
                <a:latin typeface="+mn-ea"/>
                <a:ea typeface="+mn-ea"/>
              </a:rPr>
              <a:t>K</a:t>
            </a:r>
            <a:r>
              <a:rPr lang="en-US" altLang="zh-CN" sz="2800" baseline="30000" dirty="0">
                <a:latin typeface="+mn-ea"/>
                <a:ea typeface="+mn-ea"/>
              </a:rPr>
              <a:t>+</a:t>
            </a:r>
            <a:r>
              <a:rPr lang="en-US" altLang="zh-CN" sz="2800" dirty="0">
                <a:latin typeface="+mn-ea"/>
                <a:ea typeface="+mn-ea"/>
              </a:rPr>
              <a:t>→</a:t>
            </a:r>
            <a:r>
              <a:rPr lang="zh-CN" altLang="en-US" sz="2800" dirty="0">
                <a:latin typeface="+mn-ea"/>
                <a:ea typeface="+mn-ea"/>
              </a:rPr>
              <a:t>细胞内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+mn-ea"/>
                <a:ea typeface="+mn-ea"/>
              </a:rPr>
              <a:t>    </a:t>
            </a:r>
            <a:r>
              <a:rPr lang="zh-CN" altLang="en-US" sz="2800" dirty="0" smtClean="0">
                <a:latin typeface="+mn-ea"/>
                <a:ea typeface="+mn-ea"/>
              </a:rPr>
              <a:t>细胞</a:t>
            </a:r>
            <a:r>
              <a:rPr lang="zh-CN" altLang="en-US" sz="2800" dirty="0">
                <a:latin typeface="+mn-ea"/>
                <a:ea typeface="+mn-ea"/>
              </a:rPr>
              <a:t>内</a:t>
            </a:r>
            <a:r>
              <a:rPr lang="en-US" altLang="zh-CN" sz="2800" dirty="0">
                <a:latin typeface="+mn-ea"/>
                <a:ea typeface="+mn-ea"/>
              </a:rPr>
              <a:t>H</a:t>
            </a:r>
            <a:r>
              <a:rPr lang="en-US" altLang="zh-CN" sz="2800" baseline="30000" dirty="0">
                <a:latin typeface="+mn-ea"/>
                <a:ea typeface="+mn-ea"/>
              </a:rPr>
              <a:t>+</a:t>
            </a:r>
            <a:r>
              <a:rPr lang="en-US" altLang="zh-CN" sz="2800" dirty="0">
                <a:latin typeface="+mn-ea"/>
                <a:ea typeface="+mn-ea"/>
              </a:rPr>
              <a:t>→</a:t>
            </a:r>
            <a:r>
              <a:rPr lang="zh-CN" altLang="en-US" sz="2800" dirty="0">
                <a:latin typeface="+mn-ea"/>
                <a:ea typeface="+mn-ea"/>
              </a:rPr>
              <a:t>细胞外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+mn-ea"/>
                <a:ea typeface="+mn-ea"/>
              </a:rPr>
              <a:t>            </a:t>
            </a:r>
            <a:r>
              <a:rPr lang="zh-CN" altLang="en-US" sz="2800" dirty="0" smtClean="0">
                <a:latin typeface="+mn-ea"/>
                <a:ea typeface="+mn-ea"/>
              </a:rPr>
              <a:t>→</a:t>
            </a:r>
            <a:r>
              <a:rPr lang="zh-CN" altLang="en-US" sz="2800" dirty="0">
                <a:latin typeface="+mn-ea"/>
                <a:ea typeface="+mn-ea"/>
              </a:rPr>
              <a:t>细胞外</a:t>
            </a:r>
            <a:r>
              <a:rPr lang="en-US" altLang="zh-CN" sz="2800" dirty="0">
                <a:latin typeface="+mn-ea"/>
                <a:ea typeface="+mn-ea"/>
              </a:rPr>
              <a:t>H</a:t>
            </a:r>
            <a:r>
              <a:rPr lang="en-US" altLang="zh-CN" sz="2800" baseline="30000" dirty="0">
                <a:latin typeface="+mn-ea"/>
                <a:ea typeface="+mn-ea"/>
              </a:rPr>
              <a:t>+</a:t>
            </a:r>
            <a:r>
              <a:rPr lang="en-US" altLang="zh-CN" sz="2800" dirty="0">
                <a:latin typeface="+mn-ea"/>
                <a:ea typeface="+mn-ea"/>
              </a:rPr>
              <a:t>↑</a:t>
            </a:r>
          </a:p>
          <a:p>
            <a:pPr>
              <a:spcBef>
                <a:spcPct val="50000"/>
              </a:spcBef>
            </a:pPr>
            <a:r>
              <a:rPr lang="en-US" altLang="zh-CN" sz="2800" dirty="0">
                <a:latin typeface="+mn-ea"/>
                <a:ea typeface="+mn-ea"/>
              </a:rPr>
              <a:t>  </a:t>
            </a:r>
            <a:r>
              <a:rPr lang="en-US" altLang="zh-CN" sz="2800" dirty="0" smtClean="0">
                <a:latin typeface="+mn-ea"/>
                <a:ea typeface="+mn-ea"/>
              </a:rPr>
              <a:t> </a:t>
            </a:r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lang="zh-CN" altLang="en-US" sz="2800" dirty="0" smtClean="0">
                <a:latin typeface="+mn-ea"/>
                <a:ea typeface="+mn-ea"/>
              </a:rPr>
              <a:t>肾小管上皮细胞</a:t>
            </a:r>
            <a:r>
              <a:rPr lang="zh-CN" altLang="en-US" sz="2800" dirty="0">
                <a:latin typeface="+mn-ea"/>
              </a:rPr>
              <a:t>排</a:t>
            </a:r>
            <a:r>
              <a:rPr lang="en-US" altLang="zh-CN" sz="2800" dirty="0" smtClean="0">
                <a:latin typeface="+mn-ea"/>
              </a:rPr>
              <a:t>K</a:t>
            </a:r>
            <a:r>
              <a:rPr lang="en-US" altLang="zh-CN" sz="2800" baseline="30000" dirty="0" smtClean="0">
                <a:latin typeface="+mn-ea"/>
              </a:rPr>
              <a:t>+</a:t>
            </a:r>
            <a:r>
              <a:rPr lang="zh-CN" altLang="en-US" sz="2800" b="1" dirty="0" smtClean="0">
                <a:latin typeface="宋体" pitchFamily="2" charset="-122"/>
              </a:rPr>
              <a:t>↑</a:t>
            </a:r>
            <a:r>
              <a:rPr lang="en-US" altLang="zh-CN" sz="2800" baseline="30000" dirty="0" smtClean="0">
                <a:latin typeface="+mn-ea"/>
              </a:rPr>
              <a:t>  </a:t>
            </a:r>
            <a:r>
              <a:rPr lang="zh-CN" altLang="en-US" sz="2800" dirty="0" smtClean="0">
                <a:latin typeface="+mn-ea"/>
              </a:rPr>
              <a:t>排</a:t>
            </a:r>
            <a:r>
              <a:rPr lang="en-US" altLang="zh-CN" sz="2800" dirty="0" smtClean="0">
                <a:latin typeface="+mn-ea"/>
                <a:ea typeface="+mn-ea"/>
              </a:rPr>
              <a:t>H</a:t>
            </a:r>
            <a:r>
              <a:rPr lang="en-US" altLang="zh-CN" sz="2800" baseline="30000" dirty="0" smtClean="0">
                <a:latin typeface="+mn-ea"/>
                <a:ea typeface="+mn-ea"/>
              </a:rPr>
              <a:t>+</a:t>
            </a:r>
            <a:r>
              <a:rPr lang="zh-CN" altLang="en-US" sz="2800" dirty="0" smtClean="0">
                <a:latin typeface="+mn-ea"/>
                <a:ea typeface="+mn-ea"/>
              </a:rPr>
              <a:t>↓</a:t>
            </a:r>
            <a:endParaRPr lang="zh-CN" altLang="en-US" sz="2800" dirty="0">
              <a:latin typeface="+mn-ea"/>
              <a:ea typeface="+mn-ea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86446" y="5857892"/>
            <a:ext cx="2646878" cy="461665"/>
          </a:xfrm>
          <a:prstGeom prst="rect">
            <a:avLst/>
          </a:prstGeom>
          <a:solidFill>
            <a:srgbClr val="92D050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此时尿液酸碱性？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642910" y="1124744"/>
            <a:ext cx="8501122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800" dirty="0" smtClean="0"/>
              <a:t>1</a:t>
            </a:r>
            <a:r>
              <a:rPr lang="en-US" altLang="zh-CN" sz="2800" dirty="0"/>
              <a:t>.</a:t>
            </a:r>
            <a:r>
              <a:rPr lang="zh-CN" altLang="en-US" sz="2800" dirty="0"/>
              <a:t>病因防治</a:t>
            </a:r>
          </a:p>
          <a:p>
            <a:endParaRPr lang="zh-CN" altLang="en-US" sz="2800" dirty="0"/>
          </a:p>
          <a:p>
            <a:r>
              <a:rPr lang="en-US" altLang="zh-CN" sz="2800" dirty="0"/>
              <a:t>2.</a:t>
            </a:r>
            <a:r>
              <a:rPr lang="zh-CN" altLang="en-US" sz="2800" dirty="0"/>
              <a:t>低钾 </a:t>
            </a:r>
            <a:r>
              <a:rPr lang="en-US" altLang="zh-CN" sz="2800" dirty="0"/>
              <a:t>----</a:t>
            </a:r>
            <a:r>
              <a:rPr lang="zh-CN" altLang="en-US" sz="2800" dirty="0"/>
              <a:t>补</a:t>
            </a:r>
            <a:r>
              <a:rPr lang="zh-CN" altLang="en-US" sz="2800" dirty="0" smtClean="0"/>
              <a:t>钾</a:t>
            </a:r>
            <a:r>
              <a:rPr lang="zh-CN" altLang="en-US" dirty="0" smtClean="0">
                <a:latin typeface="+mn-ea"/>
                <a:ea typeface="+mn-ea"/>
              </a:rPr>
              <a:t>（血清钾浓度</a:t>
            </a:r>
            <a:r>
              <a:rPr lang="en-US" altLang="zh-CN" dirty="0" smtClean="0">
                <a:latin typeface="+mn-ea"/>
                <a:ea typeface="+mn-ea"/>
              </a:rPr>
              <a:t>&lt;3.0mmol/L</a:t>
            </a:r>
            <a:r>
              <a:rPr lang="zh-CN" altLang="en-US" dirty="0" smtClean="0">
                <a:latin typeface="+mn-ea"/>
                <a:ea typeface="+mn-ea"/>
              </a:rPr>
              <a:t>或有明显临床表现）</a:t>
            </a:r>
            <a:endParaRPr lang="zh-CN" altLang="en-US" dirty="0">
              <a:latin typeface="+mn-ea"/>
              <a:ea typeface="+mn-ea"/>
            </a:endParaRPr>
          </a:p>
          <a:p>
            <a:r>
              <a:rPr lang="zh-CN" altLang="en-US" sz="2800" dirty="0"/>
              <a:t>       尽量用口服</a:t>
            </a:r>
          </a:p>
          <a:p>
            <a:r>
              <a:rPr lang="zh-CN" altLang="en-US" sz="2800" dirty="0"/>
              <a:t>       静脉输入浓度低速度慢</a:t>
            </a:r>
          </a:p>
          <a:p>
            <a:r>
              <a:rPr lang="zh-CN" altLang="en-US" sz="2800" dirty="0"/>
              <a:t>       </a:t>
            </a:r>
            <a:r>
              <a:rPr lang="zh-CN" altLang="en-US" sz="2800" dirty="0" smtClean="0"/>
              <a:t>见尿补钾</a:t>
            </a:r>
            <a:r>
              <a:rPr lang="en-US" altLang="zh-CN" sz="2800" dirty="0" smtClean="0"/>
              <a:t> </a:t>
            </a:r>
          </a:p>
          <a:p>
            <a:r>
              <a:rPr lang="en-US" altLang="zh-CN" sz="2800" dirty="0" smtClean="0"/>
              <a:t>       </a:t>
            </a:r>
            <a:r>
              <a:rPr lang="zh-CN" altLang="en-US" sz="2800" dirty="0" smtClean="0"/>
              <a:t>补钾时不补糖（但要监测血糖）</a:t>
            </a:r>
            <a:endParaRPr lang="zh-CN" altLang="en-US" sz="2800" dirty="0"/>
          </a:p>
          <a:p>
            <a:endParaRPr lang="zh-CN" altLang="en-US" sz="2800" dirty="0"/>
          </a:p>
          <a:p>
            <a:r>
              <a:rPr lang="en-US" altLang="zh-CN" sz="2800" dirty="0"/>
              <a:t>3.</a:t>
            </a:r>
            <a:r>
              <a:rPr lang="zh-CN" altLang="en-US" sz="2800" dirty="0"/>
              <a:t>高钾 </a:t>
            </a:r>
            <a:r>
              <a:rPr lang="en-US" altLang="zh-CN" sz="2800" dirty="0"/>
              <a:t>----</a:t>
            </a:r>
            <a:r>
              <a:rPr lang="zh-CN" altLang="en-US" sz="2800" dirty="0"/>
              <a:t>对抗与清除</a:t>
            </a:r>
          </a:p>
          <a:p>
            <a:r>
              <a:rPr lang="zh-CN" altLang="en-US" sz="2800" dirty="0"/>
              <a:t>       补钠 </a:t>
            </a:r>
            <a:r>
              <a:rPr lang="zh-CN" altLang="en-US" sz="2800" dirty="0">
                <a:sym typeface="Symbol" pitchFamily="18" charset="2"/>
              </a:rPr>
              <a:t> </a:t>
            </a:r>
            <a:r>
              <a:rPr lang="zh-CN" altLang="en-US" sz="2800" dirty="0" smtClean="0">
                <a:sym typeface="Symbol" pitchFamily="18" charset="2"/>
              </a:rPr>
              <a:t>  加</a:t>
            </a:r>
            <a:r>
              <a:rPr lang="zh-CN" altLang="en-US" sz="2800" dirty="0">
                <a:sym typeface="Symbol" pitchFamily="18" charset="2"/>
              </a:rPr>
              <a:t>速去极化 </a:t>
            </a:r>
            <a:r>
              <a:rPr lang="zh-CN" altLang="en-US" sz="2800" dirty="0" smtClean="0">
                <a:sym typeface="Symbol" pitchFamily="18" charset="2"/>
              </a:rPr>
              <a:t>   传</a:t>
            </a:r>
            <a:r>
              <a:rPr lang="zh-CN" altLang="en-US" sz="2800" dirty="0">
                <a:sym typeface="Symbol" pitchFamily="18" charset="2"/>
              </a:rPr>
              <a:t>导</a:t>
            </a:r>
            <a:r>
              <a:rPr lang="zh-CN" altLang="en-US" sz="2800" dirty="0" smtClean="0">
                <a:sym typeface="Symbol" pitchFamily="18" charset="2"/>
              </a:rPr>
              <a:t>性</a:t>
            </a:r>
            <a:r>
              <a:rPr lang="zh-CN" altLang="en-US" sz="2800" b="1" dirty="0" smtClean="0">
                <a:latin typeface="宋体" pitchFamily="2" charset="-122"/>
              </a:rPr>
              <a:t>↑</a:t>
            </a:r>
            <a:endParaRPr lang="zh-CN" altLang="en-US" sz="2800" dirty="0">
              <a:sym typeface="Symbol" pitchFamily="18" charset="2"/>
            </a:endParaRPr>
          </a:p>
          <a:p>
            <a:r>
              <a:rPr lang="zh-CN" altLang="en-US" sz="2800" dirty="0">
                <a:sym typeface="Symbol" pitchFamily="18" charset="2"/>
              </a:rPr>
              <a:t>       补钙 </a:t>
            </a:r>
            <a:r>
              <a:rPr lang="zh-CN" altLang="en-US" sz="2800" dirty="0" smtClean="0">
                <a:sym typeface="Symbol" pitchFamily="18" charset="2"/>
              </a:rPr>
              <a:t>   </a:t>
            </a:r>
            <a:r>
              <a:rPr lang="en-US" altLang="zh-CN" sz="2800" dirty="0" smtClean="0">
                <a:sym typeface="Symbol" pitchFamily="18" charset="2"/>
              </a:rPr>
              <a:t>Et</a:t>
            </a:r>
            <a:r>
              <a:rPr lang="zh-CN" altLang="en-US" sz="2800" dirty="0" smtClean="0">
                <a:sym typeface="Symbol" pitchFamily="18" charset="2"/>
              </a:rPr>
              <a:t>上移     恢复兴</a:t>
            </a:r>
            <a:r>
              <a:rPr lang="zh-CN" altLang="en-US" sz="2800" dirty="0">
                <a:sym typeface="Symbol" pitchFamily="18" charset="2"/>
              </a:rPr>
              <a:t>奋</a:t>
            </a:r>
            <a:r>
              <a:rPr lang="zh-CN" altLang="en-US" sz="2800" dirty="0" smtClean="0">
                <a:sym typeface="Symbol" pitchFamily="18" charset="2"/>
              </a:rPr>
              <a:t>性</a:t>
            </a:r>
            <a:endParaRPr lang="zh-CN" altLang="en-US" sz="2800" dirty="0">
              <a:sym typeface="Symbol" pitchFamily="18" charset="2"/>
            </a:endParaRPr>
          </a:p>
          <a:p>
            <a:r>
              <a:rPr lang="zh-CN" altLang="en-US" sz="2800" dirty="0">
                <a:sym typeface="Symbol" pitchFamily="18" charset="2"/>
              </a:rPr>
              <a:t>       胰岛素、葡萄糖</a:t>
            </a:r>
          </a:p>
          <a:p>
            <a:r>
              <a:rPr lang="zh-CN" altLang="en-US" sz="2800" dirty="0">
                <a:sym typeface="Symbol" pitchFamily="18" charset="2"/>
              </a:rPr>
              <a:t>       透析疗法</a:t>
            </a:r>
          </a:p>
        </p:txBody>
      </p:sp>
      <p:sp>
        <p:nvSpPr>
          <p:cNvPr id="3" name="Rectangle 1026"/>
          <p:cNvSpPr txBox="1">
            <a:spLocks noChangeArrowheads="1"/>
          </p:cNvSpPr>
          <p:nvPr/>
        </p:nvSpPr>
        <p:spPr>
          <a:xfrm>
            <a:off x="500034" y="452422"/>
            <a:ext cx="7772400" cy="762000"/>
          </a:xfrm>
          <a:prstGeom prst="rect">
            <a:avLst/>
          </a:prstGeom>
        </p:spPr>
        <p:txBody>
          <a:bodyPr>
            <a:normAutofit fontScale="900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钾</a:t>
            </a:r>
            <a:r>
              <a:rPr kumimoji="0" lang="zh-CN" altLang="en-US" sz="5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代谢障碍</a:t>
            </a:r>
            <a:r>
              <a:rPr kumimoji="0" lang="zh-CN" alt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的治疗原则</a:t>
            </a:r>
          </a:p>
        </p:txBody>
      </p:sp>
      <p:sp>
        <p:nvSpPr>
          <p:cNvPr id="4" name="右箭头 3"/>
          <p:cNvSpPr/>
          <p:nvPr/>
        </p:nvSpPr>
        <p:spPr>
          <a:xfrm>
            <a:off x="2071670" y="5161752"/>
            <a:ext cx="285752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右箭头 4"/>
          <p:cNvSpPr/>
          <p:nvPr/>
        </p:nvSpPr>
        <p:spPr>
          <a:xfrm>
            <a:off x="4214810" y="5161752"/>
            <a:ext cx="285752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2071670" y="5590380"/>
            <a:ext cx="285752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500430" y="5590380"/>
            <a:ext cx="285752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 descr="C:\Documents and Settings\lizzy\My Documents\My Pictures\200312281945463926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2071670" y="1214422"/>
            <a:ext cx="4800600" cy="833438"/>
          </a:xfrm>
          <a:prstGeom prst="rect">
            <a:avLst/>
          </a:prstGeom>
          <a:solidFill>
            <a:srgbClr val="FFFF99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99"/>
            </a:extrusionClr>
          </a:sp3d>
        </p:spPr>
        <p:txBody>
          <a:bodyPr>
            <a:spAutoFit/>
            <a:flatTx/>
          </a:bodyPr>
          <a:lstStyle/>
          <a:p>
            <a:pPr>
              <a:spcBef>
                <a:spcPct val="50000"/>
              </a:spcBef>
            </a:pPr>
            <a:r>
              <a:rPr lang="en-US" altLang="zh-CN" sz="4800" dirty="0"/>
              <a:t>    </a:t>
            </a:r>
            <a:r>
              <a:rPr lang="en-US" altLang="zh-CN" sz="4800" dirty="0" smtClean="0"/>
              <a:t>  Thank  </a:t>
            </a:r>
            <a:r>
              <a:rPr lang="en-US" altLang="zh-CN" sz="4800" dirty="0"/>
              <a:t>you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水盐代谢图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403350" y="692150"/>
            <a:ext cx="6553200" cy="5545138"/>
          </a:xfrm>
          <a:prstGeom prst="rect">
            <a:avLst/>
          </a:prstGeom>
          <a:noFill/>
        </p:spPr>
      </p:pic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23528" y="332656"/>
            <a:ext cx="7924800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800" b="1" dirty="0" smtClean="0">
                <a:ea typeface="方正大黑简体" pitchFamily="2" charset="-122"/>
              </a:rPr>
              <a:t>低钾血症时心室肌动作电位变化？</a:t>
            </a:r>
            <a:endParaRPr lang="zh-CN" altLang="en-US" sz="2800" b="1" dirty="0">
              <a:ea typeface="方正大黑简体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sz="2800" b="1" dirty="0"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3" cstate="print"/>
          <a:srcRect l="22638" t="14700" r="12788" b="9001"/>
          <a:stretch>
            <a:fillRect/>
          </a:stretch>
        </p:blipFill>
        <p:spPr bwMode="auto">
          <a:xfrm>
            <a:off x="0" y="333375"/>
            <a:ext cx="9167813" cy="609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顶峰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2014</TotalTime>
  <Words>1674</Words>
  <Application>Microsoft Office PowerPoint</Application>
  <PresentationFormat>全屏显示(4:3)</PresentationFormat>
  <Paragraphs>250</Paragraphs>
  <Slides>34</Slides>
  <Notes>13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5" baseType="lpstr">
      <vt:lpstr>流畅</vt:lpstr>
      <vt:lpstr>钾代谢障碍</vt:lpstr>
      <vt:lpstr>钾的主要生理功能</vt:lpstr>
      <vt:lpstr>钾的分布和平衡</vt:lpstr>
      <vt:lpstr>钾平衡的调节</vt:lpstr>
      <vt:lpstr>幻灯片 5</vt:lpstr>
      <vt:lpstr>幻灯片 6</vt:lpstr>
      <vt:lpstr>钾平衡的调节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</vt:vector>
  </TitlesOfParts>
  <Company>Microsoft China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Methods to find new protein complex</dc:title>
  <dc:creator>lizzy</dc:creator>
  <cp:lastModifiedBy>rong liu</cp:lastModifiedBy>
  <cp:revision>187</cp:revision>
  <dcterms:created xsi:type="dcterms:W3CDTF">2004-01-25T12:54:08Z</dcterms:created>
  <dcterms:modified xsi:type="dcterms:W3CDTF">2021-09-13T04:16:15Z</dcterms:modified>
</cp:coreProperties>
</file>